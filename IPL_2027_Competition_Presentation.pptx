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4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4574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926080" cy="2926080"/>
          </a:xfrm>
          <a:prstGeom prst="ellipse">
            <a:avLst/>
          </a:prstGeom>
          <a:solidFill>
            <a:srgbClr val="0D1626"/>
          </a:solidFill>
          <a:ln/>
        </p:spPr>
      </p:sp>
      <p:sp>
        <p:nvSpPr>
          <p:cNvPr id="3" name="Shape 1"/>
          <p:cNvSpPr/>
          <p:nvPr/>
        </p:nvSpPr>
        <p:spPr>
          <a:xfrm>
            <a:off x="-914400" y="5486400"/>
            <a:ext cx="2377440" cy="2377440"/>
          </a:xfrm>
          <a:prstGeom prst="ellipse">
            <a:avLst/>
          </a:prstGeom>
          <a:solidFill>
            <a:srgbClr val="0D1626"/>
          </a:solidFill>
          <a:ln/>
        </p:spPr>
      </p:sp>
      <p:sp>
        <p:nvSpPr>
          <p:cNvPr id="4" name="Shape 2"/>
          <p:cNvSpPr/>
          <p:nvPr/>
        </p:nvSpPr>
        <p:spPr>
          <a:xfrm>
            <a:off x="548640" y="502920"/>
            <a:ext cx="566928" cy="566928"/>
          </a:xfrm>
          <a:prstGeom prst="ellipse">
            <a:avLst/>
          </a:prstGeom>
          <a:solidFill>
            <a:srgbClr val="D4A017"/>
          </a:solidFill>
          <a:ln/>
        </p:spPr>
      </p:sp>
      <p:pic>
        <p:nvPicPr>
          <p:cNvPr id="5" name="Image 0" descr="icon_trophy.png"/>
          <p:cNvPicPr>
            <a:picLocks noChangeAspect="1"/>
          </p:cNvPicPr>
          <p:nvPr/>
        </p:nvPicPr>
        <p:blipFill>
          <a:blip r:embed="rId3"/>
          <a:stretch>
            <a:fillRect/>
          </a:stretch>
        </p:blipFill>
        <p:spPr>
          <a:xfrm>
            <a:off x="684703" y="638983"/>
            <a:ext cx="294803" cy="294803"/>
          </a:xfrm>
          <a:prstGeom prst="rect">
            <a:avLst/>
          </a:prstGeom>
        </p:spPr>
      </p:pic>
      <p:sp>
        <p:nvSpPr>
          <p:cNvPr id="6" name="Text 3"/>
          <p:cNvSpPr/>
          <p:nvPr/>
        </p:nvSpPr>
        <p:spPr>
          <a:xfrm>
            <a:off x="1280160" y="548640"/>
            <a:ext cx="7315200" cy="365760"/>
          </a:xfrm>
          <a:prstGeom prst="rect">
            <a:avLst/>
          </a:prstGeom>
          <a:noFill/>
          <a:ln/>
        </p:spPr>
        <p:txBody>
          <a:bodyPr wrap="square" rtlCol="0" anchor="ctr"/>
          <a:lstStyle/>
          <a:p>
            <a:pPr marL="0" indent="0">
              <a:buNone/>
            </a:pPr>
            <a:r>
              <a:rPr lang="en-US" sz="1200" b="1" kern="0" spc="200" dirty="0">
                <a:solidFill>
                  <a:srgbClr val="F0C766"/>
                </a:solidFill>
                <a:latin typeface="Calibri" pitchFamily="34" charset="0"/>
                <a:ea typeface="Calibri" pitchFamily="34" charset="-122"/>
                <a:cs typeface="Calibri" pitchFamily="34" charset="-120"/>
              </a:rPr>
              <a:t>DATA SCIENCE PROJECT COMPETITION  ·  JULY 2026</a:t>
            </a:r>
            <a:endParaRPr lang="en-US" sz="1200" dirty="0"/>
          </a:p>
        </p:txBody>
      </p:sp>
      <p:sp>
        <p:nvSpPr>
          <p:cNvPr id="7" name="Text 4"/>
          <p:cNvSpPr/>
          <p:nvPr/>
        </p:nvSpPr>
        <p:spPr>
          <a:xfrm>
            <a:off x="548640" y="1371600"/>
            <a:ext cx="11064240" cy="1188720"/>
          </a:xfrm>
          <a:prstGeom prst="rect">
            <a:avLst/>
          </a:prstGeom>
          <a:noFill/>
          <a:ln/>
        </p:spPr>
        <p:txBody>
          <a:bodyPr wrap="square"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IPL 2027 Franchise Squad Predictor</a:t>
            </a:r>
            <a:endParaRPr lang="en-US" sz="4000" dirty="0"/>
          </a:p>
        </p:txBody>
      </p:sp>
      <p:sp>
        <p:nvSpPr>
          <p:cNvPr id="8" name="Text 5"/>
          <p:cNvSpPr/>
          <p:nvPr/>
        </p:nvSpPr>
        <p:spPr>
          <a:xfrm>
            <a:off x="548640" y="2331720"/>
            <a:ext cx="10515600" cy="457200"/>
          </a:xfrm>
          <a:prstGeom prst="rect">
            <a:avLst/>
          </a:prstGeom>
          <a:noFill/>
          <a:ln/>
        </p:spPr>
        <p:txBody>
          <a:bodyPr wrap="square" rtlCol="0" anchor="ctr"/>
          <a:lstStyle/>
          <a:p>
            <a:pPr marL="0" indent="0">
              <a:buNone/>
            </a:pPr>
            <a:r>
              <a:rPr lang="en-US" sz="1700" i="1" dirty="0">
                <a:solidFill>
                  <a:srgbClr val="F0C766"/>
                </a:solidFill>
                <a:latin typeface="Calibri" pitchFamily="34" charset="0"/>
                <a:ea typeface="Calibri" pitchFamily="34" charset="-122"/>
                <a:cs typeface="Calibri" pitchFamily="34" charset="-120"/>
              </a:rPr>
              <a:t>A Production Machine Learning System for Data-Driven IPL Auction Squad Selection</a:t>
            </a:r>
            <a:endParaRPr lang="en-US" sz="1700" dirty="0"/>
          </a:p>
        </p:txBody>
      </p:sp>
      <p:sp>
        <p:nvSpPr>
          <p:cNvPr id="9" name="Shape 6"/>
          <p:cNvSpPr/>
          <p:nvPr/>
        </p:nvSpPr>
        <p:spPr>
          <a:xfrm>
            <a:off x="548640" y="3063240"/>
            <a:ext cx="11064240" cy="2880360"/>
          </a:xfrm>
          <a:prstGeom prst="roundRect">
            <a:avLst>
              <a:gd name="adj" fmla="val 2540"/>
            </a:avLst>
          </a:prstGeom>
          <a:solidFill>
            <a:srgbClr val="0D1626"/>
          </a:solidFill>
          <a:ln/>
        </p:spPr>
      </p:sp>
      <p:sp>
        <p:nvSpPr>
          <p:cNvPr id="10" name="Text 7"/>
          <p:cNvSpPr/>
          <p:nvPr/>
        </p:nvSpPr>
        <p:spPr>
          <a:xfrm>
            <a:off x="868680" y="3291840"/>
            <a:ext cx="5486400" cy="320040"/>
          </a:xfrm>
          <a:prstGeom prst="rect">
            <a:avLst/>
          </a:prstGeom>
          <a:noFill/>
          <a:ln/>
        </p:spPr>
        <p:txBody>
          <a:bodyPr wrap="square" rtlCol="0" anchor="ctr"/>
          <a:lstStyle/>
          <a:p>
            <a:pPr marL="0" indent="0">
              <a:buNone/>
            </a:pPr>
            <a:r>
              <a:rPr lang="en-US" sz="1300" b="1" kern="0" spc="150" dirty="0">
                <a:solidFill>
                  <a:srgbClr val="D4A017"/>
                </a:solidFill>
                <a:latin typeface="Calibri" pitchFamily="34" charset="0"/>
                <a:ea typeface="Calibri" pitchFamily="34" charset="-122"/>
                <a:cs typeface="Calibri" pitchFamily="34" charset="-120"/>
              </a:rPr>
              <a:t>PROBLEM STATEMENT</a:t>
            </a:r>
            <a:endParaRPr lang="en-US" sz="1300" dirty="0"/>
          </a:p>
        </p:txBody>
      </p:sp>
      <p:sp>
        <p:nvSpPr>
          <p:cNvPr id="11" name="Text 8"/>
          <p:cNvSpPr/>
          <p:nvPr/>
        </p:nvSpPr>
        <p:spPr>
          <a:xfrm>
            <a:off x="868680" y="3703320"/>
            <a:ext cx="10424160" cy="822960"/>
          </a:xfrm>
          <a:prstGeom prst="rect">
            <a:avLst/>
          </a:prstGeom>
          <a:noFill/>
          <a:ln/>
        </p:spPr>
        <p:txBody>
          <a:bodyPr wrap="square" rtlCol="0" anchor="ctr"/>
          <a:lstStyle/>
          <a:p>
            <a:pPr marL="0" indent="0">
              <a:lnSpc>
                <a:spcPct val="125000"/>
              </a:lnSpc>
              <a:buNone/>
            </a:pPr>
            <a:r>
              <a:rPr lang="en-US" sz="1500" dirty="0">
                <a:solidFill>
                  <a:srgbClr val="FFFFFF"/>
                </a:solidFill>
                <a:latin typeface="Calibri" pitchFamily="34" charset="0"/>
                <a:ea typeface="Calibri" pitchFamily="34" charset="-122"/>
                <a:cs typeface="Calibri" pitchFamily="34" charset="-120"/>
              </a:rPr>
              <a:t>IPL franchises allocate hundred-crore auction budgets using scout intuition and recency bias, not systematic analysis. Every auction cycle, teams overpay for players coming off one strong season and undervalue consistent performers who lack highlight-reel moments.</a:t>
            </a:r>
            <a:endParaRPr lang="en-US" sz="1500" dirty="0"/>
          </a:p>
        </p:txBody>
      </p:sp>
      <p:sp>
        <p:nvSpPr>
          <p:cNvPr id="12" name="Text 9"/>
          <p:cNvSpPr/>
          <p:nvPr/>
        </p:nvSpPr>
        <p:spPr>
          <a:xfrm>
            <a:off x="868680" y="4526280"/>
            <a:ext cx="10424160" cy="685800"/>
          </a:xfrm>
          <a:prstGeom prst="rect">
            <a:avLst/>
          </a:prstGeom>
          <a:noFill/>
          <a:ln/>
        </p:spPr>
        <p:txBody>
          <a:bodyPr wrap="square" rtlCol="0" anchor="ctr"/>
          <a:lstStyle/>
          <a:p>
            <a:pPr marL="0" indent="0">
              <a:lnSpc>
                <a:spcPct val="125000"/>
              </a:lnSpc>
              <a:buNone/>
            </a:pPr>
            <a:r>
              <a:rPr lang="en-US" sz="1500" dirty="0">
                <a:solidFill>
                  <a:srgbClr val="FFFFFF"/>
                </a:solidFill>
                <a:latin typeface="Calibri" pitchFamily="34" charset="0"/>
                <a:ea typeface="Calibri" pitchFamily="34" charset="-122"/>
                <a:cs typeface="Calibri" pitchFamily="34" charset="-120"/>
              </a:rPr>
              <a:t>There is no quantitative framework connecting a player's historical match-winning contribution to squad selection decisions under real IPL constraints — budget, role balance, and the overseas-player cap.</a:t>
            </a:r>
            <a:endParaRPr lang="en-US" sz="1500" dirty="0"/>
          </a:p>
        </p:txBody>
      </p:sp>
      <p:sp>
        <p:nvSpPr>
          <p:cNvPr id="13" name="Text 10"/>
          <p:cNvSpPr/>
          <p:nvPr/>
        </p:nvSpPr>
        <p:spPr>
          <a:xfrm>
            <a:off x="548640" y="6263640"/>
            <a:ext cx="11064240" cy="320040"/>
          </a:xfrm>
          <a:prstGeom prst="rect">
            <a:avLst/>
          </a:prstGeom>
          <a:noFill/>
          <a:ln/>
        </p:spPr>
        <p:txBody>
          <a:bodyPr wrap="square" rtlCol="0" anchor="ctr"/>
          <a:lstStyle/>
          <a:p>
            <a:pPr marL="0" indent="0" algn="l">
              <a:buNone/>
            </a:pPr>
            <a:r>
              <a:rPr lang="en-US" sz="1100" dirty="0">
                <a:solidFill>
                  <a:srgbClr val="E8E9ED"/>
                </a:solidFill>
                <a:latin typeface="Calibri" pitchFamily="34" charset="0"/>
                <a:ea typeface="Calibri" pitchFamily="34" charset="-122"/>
                <a:cs typeface="Calibri" pitchFamily="34" charset="-120"/>
              </a:rPr>
              <a:t>Anandapriya T   |   PG Data Analytics &amp; Machine Learning   |   github.com/Anandapriya-T/ipl-2027-squad-predictor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5"/>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4213D"/>
          </a:solidFill>
          <a:ln/>
        </p:spPr>
      </p:sp>
      <p:pic>
        <p:nvPicPr>
          <p:cNvPr id="3" name="Image 0" descr="icon_layers.png"/>
          <p:cNvPicPr>
            <a:picLocks noChangeAspect="1"/>
          </p:cNvPicPr>
          <p:nvPr/>
        </p:nvPicPr>
        <p:blipFill>
          <a:blip r:embed="rId3"/>
          <a:stretch>
            <a:fillRect/>
          </a:stretch>
        </p:blipFill>
        <p:spPr>
          <a:xfrm>
            <a:off x="669341" y="577901"/>
            <a:ext cx="261518" cy="261518"/>
          </a:xfrm>
          <a:prstGeom prst="rect">
            <a:avLst/>
          </a:prstGeom>
        </p:spPr>
      </p:pic>
      <p:sp>
        <p:nvSpPr>
          <p:cNvPr id="4" name="Text 1"/>
          <p:cNvSpPr/>
          <p:nvPr/>
        </p:nvSpPr>
        <p:spPr>
          <a:xfrm>
            <a:off x="1234440" y="438912"/>
            <a:ext cx="7315200" cy="548640"/>
          </a:xfrm>
          <a:prstGeom prst="rect">
            <a:avLst/>
          </a:prstGeom>
          <a:noFill/>
          <a:ln/>
        </p:spPr>
        <p:txBody>
          <a:bodyPr wrap="square"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Overall Solution Approach</a:t>
            </a:r>
            <a:endParaRPr lang="en-US" sz="2800" dirty="0"/>
          </a:p>
        </p:txBody>
      </p:sp>
      <p:sp>
        <p:nvSpPr>
          <p:cNvPr id="5" name="Text 2"/>
          <p:cNvSpPr/>
          <p:nvPr/>
        </p:nvSpPr>
        <p:spPr>
          <a:xfrm>
            <a:off x="1234440" y="960120"/>
            <a:ext cx="9601200" cy="320040"/>
          </a:xfrm>
          <a:prstGeom prst="rect">
            <a:avLst/>
          </a:prstGeom>
          <a:noFill/>
          <a:ln/>
        </p:spPr>
        <p:txBody>
          <a:bodyPr wrap="square"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An end-to-end pipeline — from raw ball-by-ball data to a live, deployed squad optimizer</a:t>
            </a:r>
            <a:endParaRPr lang="en-US" sz="1300" dirty="0"/>
          </a:p>
        </p:txBody>
      </p:sp>
      <p:sp>
        <p:nvSpPr>
          <p:cNvPr id="6" name="Shape 3"/>
          <p:cNvSpPr/>
          <p:nvPr/>
        </p:nvSpPr>
        <p:spPr>
          <a:xfrm>
            <a:off x="548640" y="1600200"/>
            <a:ext cx="1956816" cy="2331720"/>
          </a:xfrm>
          <a:prstGeom prst="roundRect">
            <a:avLst>
              <a:gd name="adj" fmla="val 3271"/>
            </a:avLst>
          </a:prstGeom>
          <a:solidFill>
            <a:srgbClr val="FFFFFF"/>
          </a:solidFill>
          <a:ln w="12700">
            <a:solidFill>
              <a:srgbClr val="E8E9ED"/>
            </a:solidFill>
            <a:prstDash val="solid"/>
          </a:ln>
          <a:effectLst>
            <a:outerShdw blurRad="76200" dist="25400" dir="5400000" algn="bl" rotWithShape="0">
              <a:srgbClr val="000000">
                <a:alpha val="12000"/>
              </a:srgbClr>
            </a:outerShdw>
          </a:effectLst>
        </p:spPr>
      </p:sp>
      <p:sp>
        <p:nvSpPr>
          <p:cNvPr id="7" name="Shape 4"/>
          <p:cNvSpPr/>
          <p:nvPr/>
        </p:nvSpPr>
        <p:spPr>
          <a:xfrm>
            <a:off x="1234440" y="1856232"/>
            <a:ext cx="585216" cy="585216"/>
          </a:xfrm>
          <a:prstGeom prst="ellipse">
            <a:avLst/>
          </a:prstGeom>
          <a:solidFill>
            <a:srgbClr val="14213D"/>
          </a:solidFill>
          <a:ln/>
        </p:spPr>
      </p:sp>
      <p:pic>
        <p:nvPicPr>
          <p:cNvPr id="8" name="Image 1" descr="icon_database.png"/>
          <p:cNvPicPr>
            <a:picLocks noChangeAspect="1"/>
          </p:cNvPicPr>
          <p:nvPr/>
        </p:nvPicPr>
        <p:blipFill>
          <a:blip r:embed="rId4"/>
          <a:stretch>
            <a:fillRect/>
          </a:stretch>
        </p:blipFill>
        <p:spPr>
          <a:xfrm>
            <a:off x="1374892" y="1996684"/>
            <a:ext cx="304312" cy="304312"/>
          </a:xfrm>
          <a:prstGeom prst="rect">
            <a:avLst/>
          </a:prstGeom>
        </p:spPr>
      </p:pic>
      <p:sp>
        <p:nvSpPr>
          <p:cNvPr id="9" name="Text 5"/>
          <p:cNvSpPr/>
          <p:nvPr/>
        </p:nvSpPr>
        <p:spPr>
          <a:xfrm>
            <a:off x="621792" y="2560320"/>
            <a:ext cx="1810512" cy="548640"/>
          </a:xfrm>
          <a:prstGeom prst="rect">
            <a:avLst/>
          </a:prstGeom>
          <a:noFill/>
          <a:ln/>
        </p:spPr>
        <p:txBody>
          <a:bodyPr wrap="square" rtlCol="0" anchor="t"/>
          <a:lstStyle/>
          <a:p>
            <a:pPr marL="0" indent="0" algn="ctr">
              <a:buNone/>
            </a:pPr>
            <a:r>
              <a:rPr lang="en-US" sz="1300" b="1" dirty="0">
                <a:solidFill>
                  <a:srgbClr val="14213D"/>
                </a:solidFill>
                <a:latin typeface="Calibri" pitchFamily="34" charset="0"/>
                <a:ea typeface="Calibri" pitchFamily="34" charset="-122"/>
                <a:cs typeface="Calibri" pitchFamily="34" charset="-120"/>
              </a:rPr>
              <a:t>Data</a:t>
            </a:r>
            <a:endParaRPr lang="en-US" sz="1300" dirty="0"/>
          </a:p>
        </p:txBody>
      </p:sp>
      <p:sp>
        <p:nvSpPr>
          <p:cNvPr id="10" name="Text 6"/>
          <p:cNvSpPr/>
          <p:nvPr/>
        </p:nvSpPr>
        <p:spPr>
          <a:xfrm>
            <a:off x="621792" y="3108960"/>
            <a:ext cx="1810512" cy="777240"/>
          </a:xfrm>
          <a:prstGeom prst="rect">
            <a:avLst/>
          </a:prstGeom>
          <a:noFill/>
          <a:ln/>
        </p:spPr>
        <p:txBody>
          <a:bodyPr wrap="square" rtlCol="0" anchor="t"/>
          <a:lstStyle/>
          <a:p>
            <a:pPr marL="0" indent="0" algn="ctr">
              <a:lnSpc>
                <a:spcPct val="115000"/>
              </a:lnSpc>
              <a:buNone/>
            </a:pPr>
            <a:r>
              <a:rPr lang="en-US" sz="1050" dirty="0">
                <a:solidFill>
                  <a:srgbClr val="4A5568"/>
                </a:solidFill>
                <a:latin typeface="Calibri" pitchFamily="34" charset="0"/>
                <a:ea typeface="Calibri" pitchFamily="34" charset="-122"/>
                <a:cs typeface="Calibri" pitchFamily="34" charset="-120"/>
              </a:rPr>
              <a:t>288,226 deliveries</a:t>
            </a:r>
            <a:endParaRPr lang="en-US" sz="1050" dirty="0"/>
          </a:p>
          <a:p>
            <a:pPr marL="0" indent="0" algn="ctr">
              <a:lnSpc>
                <a:spcPct val="115000"/>
              </a:lnSpc>
              <a:buNone/>
            </a:pPr>
            <a:r>
              <a:rPr lang="en-US" sz="1050" dirty="0">
                <a:solidFill>
                  <a:srgbClr val="4A5568"/>
                </a:solidFill>
                <a:latin typeface="Calibri" pitchFamily="34" charset="0"/>
                <a:ea typeface="Calibri" pitchFamily="34" charset="-122"/>
                <a:cs typeface="Calibri" pitchFamily="34" charset="-120"/>
              </a:rPr>
              <a:t>IPL 2016–2025</a:t>
            </a:r>
            <a:endParaRPr lang="en-US" sz="1050" dirty="0"/>
          </a:p>
        </p:txBody>
      </p:sp>
      <p:sp>
        <p:nvSpPr>
          <p:cNvPr id="11" name="Text 7"/>
          <p:cNvSpPr/>
          <p:nvPr/>
        </p:nvSpPr>
        <p:spPr>
          <a:xfrm>
            <a:off x="2487168" y="2468880"/>
            <a:ext cx="356616" cy="457200"/>
          </a:xfrm>
          <a:prstGeom prst="rect">
            <a:avLst/>
          </a:prstGeom>
          <a:noFill/>
          <a:ln/>
        </p:spPr>
        <p:txBody>
          <a:bodyPr wrap="square" rtlCol="0" anchor="ctr"/>
          <a:lstStyle/>
          <a:p>
            <a:pPr marL="0" indent="0" algn="ctr">
              <a:buNone/>
            </a:pPr>
            <a:r>
              <a:rPr lang="en-US" sz="2000" b="1" dirty="0">
                <a:solidFill>
                  <a:srgbClr val="D4A017"/>
                </a:solidFill>
                <a:latin typeface="Arial" pitchFamily="34" charset="0"/>
                <a:ea typeface="Arial" pitchFamily="34" charset="-122"/>
                <a:cs typeface="Arial" pitchFamily="34" charset="-120"/>
              </a:rPr>
              <a:t>→</a:t>
            </a:r>
            <a:endParaRPr lang="en-US" sz="2000" dirty="0"/>
          </a:p>
        </p:txBody>
      </p:sp>
      <p:sp>
        <p:nvSpPr>
          <p:cNvPr id="12" name="Shape 8"/>
          <p:cNvSpPr/>
          <p:nvPr/>
        </p:nvSpPr>
        <p:spPr>
          <a:xfrm>
            <a:off x="2825496" y="1600200"/>
            <a:ext cx="1956816" cy="2331720"/>
          </a:xfrm>
          <a:prstGeom prst="roundRect">
            <a:avLst>
              <a:gd name="adj" fmla="val 3271"/>
            </a:avLst>
          </a:prstGeom>
          <a:solidFill>
            <a:srgbClr val="FFFFFF"/>
          </a:solidFill>
          <a:ln w="12700">
            <a:solidFill>
              <a:srgbClr val="E8E9ED"/>
            </a:solidFill>
            <a:prstDash val="solid"/>
          </a:ln>
          <a:effectLst>
            <a:outerShdw blurRad="76200" dist="25400" dir="5400000" algn="bl" rotWithShape="0">
              <a:srgbClr val="000000">
                <a:alpha val="12000"/>
              </a:srgbClr>
            </a:outerShdw>
          </a:effectLst>
        </p:spPr>
      </p:sp>
      <p:sp>
        <p:nvSpPr>
          <p:cNvPr id="13" name="Shape 9"/>
          <p:cNvSpPr/>
          <p:nvPr/>
        </p:nvSpPr>
        <p:spPr>
          <a:xfrm>
            <a:off x="3511296" y="1856232"/>
            <a:ext cx="585216" cy="585216"/>
          </a:xfrm>
          <a:prstGeom prst="ellipse">
            <a:avLst/>
          </a:prstGeom>
          <a:solidFill>
            <a:srgbClr val="2B4C7E"/>
          </a:solidFill>
          <a:ln/>
        </p:spPr>
      </p:sp>
      <p:pic>
        <p:nvPicPr>
          <p:cNvPr id="14" name="Image 2" descr="icon_filter.png"/>
          <p:cNvPicPr>
            <a:picLocks noChangeAspect="1"/>
          </p:cNvPicPr>
          <p:nvPr/>
        </p:nvPicPr>
        <p:blipFill>
          <a:blip r:embed="rId5"/>
          <a:stretch>
            <a:fillRect/>
          </a:stretch>
        </p:blipFill>
        <p:spPr>
          <a:xfrm>
            <a:off x="3651748" y="1996684"/>
            <a:ext cx="304312" cy="304312"/>
          </a:xfrm>
          <a:prstGeom prst="rect">
            <a:avLst/>
          </a:prstGeom>
        </p:spPr>
      </p:pic>
      <p:sp>
        <p:nvSpPr>
          <p:cNvPr id="15" name="Text 10"/>
          <p:cNvSpPr/>
          <p:nvPr/>
        </p:nvSpPr>
        <p:spPr>
          <a:xfrm>
            <a:off x="2898648" y="2560320"/>
            <a:ext cx="1810512" cy="548640"/>
          </a:xfrm>
          <a:prstGeom prst="rect">
            <a:avLst/>
          </a:prstGeom>
          <a:noFill/>
          <a:ln/>
        </p:spPr>
        <p:txBody>
          <a:bodyPr wrap="square" rtlCol="0" anchor="t"/>
          <a:lstStyle/>
          <a:p>
            <a:pPr marL="0" indent="0" algn="ctr">
              <a:buNone/>
            </a:pPr>
            <a:r>
              <a:rPr lang="en-US" sz="1300" b="1" dirty="0">
                <a:solidFill>
                  <a:srgbClr val="14213D"/>
                </a:solidFill>
                <a:latin typeface="Calibri" pitchFamily="34" charset="0"/>
                <a:ea typeface="Calibri" pitchFamily="34" charset="-122"/>
                <a:cs typeface="Calibri" pitchFamily="34" charset="-120"/>
              </a:rPr>
              <a:t>Feature</a:t>
            </a:r>
            <a:endParaRPr lang="en-US" sz="1300" dirty="0"/>
          </a:p>
          <a:p>
            <a:pPr marL="0" indent="0" algn="ctr">
              <a:buNone/>
            </a:pPr>
            <a:r>
              <a:rPr lang="en-US" sz="1300" b="1" dirty="0">
                <a:solidFill>
                  <a:srgbClr val="14213D"/>
                </a:solidFill>
                <a:latin typeface="Calibri" pitchFamily="34" charset="0"/>
                <a:ea typeface="Calibri" pitchFamily="34" charset="-122"/>
                <a:cs typeface="Calibri" pitchFamily="34" charset="-120"/>
              </a:rPr>
              <a:t>Engineering</a:t>
            </a:r>
            <a:endParaRPr lang="en-US" sz="1300" dirty="0"/>
          </a:p>
        </p:txBody>
      </p:sp>
      <p:sp>
        <p:nvSpPr>
          <p:cNvPr id="16" name="Text 11"/>
          <p:cNvSpPr/>
          <p:nvPr/>
        </p:nvSpPr>
        <p:spPr>
          <a:xfrm>
            <a:off x="2898648" y="3108960"/>
            <a:ext cx="1810512" cy="777240"/>
          </a:xfrm>
          <a:prstGeom prst="rect">
            <a:avLst/>
          </a:prstGeom>
          <a:noFill/>
          <a:ln/>
        </p:spPr>
        <p:txBody>
          <a:bodyPr wrap="square" rtlCol="0" anchor="t"/>
          <a:lstStyle/>
          <a:p>
            <a:pPr marL="0" indent="0" algn="ctr">
              <a:lnSpc>
                <a:spcPct val="115000"/>
              </a:lnSpc>
              <a:buNone/>
            </a:pPr>
            <a:r>
              <a:rPr lang="en-US" sz="1050" dirty="0">
                <a:solidFill>
                  <a:srgbClr val="4A5568"/>
                </a:solidFill>
                <a:latin typeface="Calibri" pitchFamily="34" charset="0"/>
                <a:ea typeface="Calibri" pitchFamily="34" charset="-122"/>
                <a:cs typeface="Calibri" pitchFamily="34" charset="-120"/>
              </a:rPr>
              <a:t>Phase-wise SR, form</a:t>
            </a:r>
            <a:endParaRPr lang="en-US" sz="1050" dirty="0"/>
          </a:p>
          <a:p>
            <a:pPr marL="0" indent="0" algn="ctr">
              <a:lnSpc>
                <a:spcPct val="115000"/>
              </a:lnSpc>
              <a:buNone/>
            </a:pPr>
            <a:r>
              <a:rPr lang="en-US" sz="1050" dirty="0">
                <a:solidFill>
                  <a:srgbClr val="4A5568"/>
                </a:solidFill>
                <a:latin typeface="Calibri" pitchFamily="34" charset="0"/>
                <a:ea typeface="Calibri" pitchFamily="34" charset="-122"/>
                <a:cs typeface="Calibri" pitchFamily="34" charset="-120"/>
              </a:rPr>
              <a:t>decay, matchups</a:t>
            </a:r>
            <a:endParaRPr lang="en-US" sz="1050" dirty="0"/>
          </a:p>
        </p:txBody>
      </p:sp>
      <p:sp>
        <p:nvSpPr>
          <p:cNvPr id="17" name="Text 12"/>
          <p:cNvSpPr/>
          <p:nvPr/>
        </p:nvSpPr>
        <p:spPr>
          <a:xfrm>
            <a:off x="4764024" y="2468880"/>
            <a:ext cx="356616" cy="457200"/>
          </a:xfrm>
          <a:prstGeom prst="rect">
            <a:avLst/>
          </a:prstGeom>
          <a:noFill/>
          <a:ln/>
        </p:spPr>
        <p:txBody>
          <a:bodyPr wrap="square" rtlCol="0" anchor="ctr"/>
          <a:lstStyle/>
          <a:p>
            <a:pPr marL="0" indent="0" algn="ctr">
              <a:buNone/>
            </a:pPr>
            <a:r>
              <a:rPr lang="en-US" sz="2000" b="1" dirty="0">
                <a:solidFill>
                  <a:srgbClr val="D4A017"/>
                </a:solidFill>
                <a:latin typeface="Arial" pitchFamily="34" charset="0"/>
                <a:ea typeface="Arial" pitchFamily="34" charset="-122"/>
                <a:cs typeface="Arial" pitchFamily="34" charset="-120"/>
              </a:rPr>
              <a:t>→</a:t>
            </a:r>
            <a:endParaRPr lang="en-US" sz="2000" dirty="0"/>
          </a:p>
        </p:txBody>
      </p:sp>
      <p:sp>
        <p:nvSpPr>
          <p:cNvPr id="18" name="Shape 13"/>
          <p:cNvSpPr/>
          <p:nvPr/>
        </p:nvSpPr>
        <p:spPr>
          <a:xfrm>
            <a:off x="5102352" y="1600200"/>
            <a:ext cx="1956816" cy="2331720"/>
          </a:xfrm>
          <a:prstGeom prst="roundRect">
            <a:avLst>
              <a:gd name="adj" fmla="val 3271"/>
            </a:avLst>
          </a:prstGeom>
          <a:solidFill>
            <a:srgbClr val="FFFFFF"/>
          </a:solidFill>
          <a:ln w="12700">
            <a:solidFill>
              <a:srgbClr val="E8E9ED"/>
            </a:solidFill>
            <a:prstDash val="solid"/>
          </a:ln>
          <a:effectLst>
            <a:outerShdw blurRad="76200" dist="25400" dir="5400000" algn="bl" rotWithShape="0">
              <a:srgbClr val="000000">
                <a:alpha val="12000"/>
              </a:srgbClr>
            </a:outerShdw>
          </a:effectLst>
        </p:spPr>
      </p:sp>
      <p:sp>
        <p:nvSpPr>
          <p:cNvPr id="19" name="Shape 14"/>
          <p:cNvSpPr/>
          <p:nvPr/>
        </p:nvSpPr>
        <p:spPr>
          <a:xfrm>
            <a:off x="5788152" y="1856232"/>
            <a:ext cx="585216" cy="585216"/>
          </a:xfrm>
          <a:prstGeom prst="ellipse">
            <a:avLst/>
          </a:prstGeom>
          <a:solidFill>
            <a:srgbClr val="3D6BA5"/>
          </a:solidFill>
          <a:ln/>
        </p:spPr>
      </p:sp>
      <p:pic>
        <p:nvPicPr>
          <p:cNvPr id="20" name="Image 3" descr="icon_cpu.png"/>
          <p:cNvPicPr>
            <a:picLocks noChangeAspect="1"/>
          </p:cNvPicPr>
          <p:nvPr/>
        </p:nvPicPr>
        <p:blipFill>
          <a:blip r:embed="rId6"/>
          <a:stretch>
            <a:fillRect/>
          </a:stretch>
        </p:blipFill>
        <p:spPr>
          <a:xfrm>
            <a:off x="5928604" y="1996684"/>
            <a:ext cx="304312" cy="304312"/>
          </a:xfrm>
          <a:prstGeom prst="rect">
            <a:avLst/>
          </a:prstGeom>
        </p:spPr>
      </p:pic>
      <p:sp>
        <p:nvSpPr>
          <p:cNvPr id="21" name="Text 15"/>
          <p:cNvSpPr/>
          <p:nvPr/>
        </p:nvSpPr>
        <p:spPr>
          <a:xfrm>
            <a:off x="5175504" y="2560320"/>
            <a:ext cx="1810512" cy="548640"/>
          </a:xfrm>
          <a:prstGeom prst="rect">
            <a:avLst/>
          </a:prstGeom>
          <a:noFill/>
          <a:ln/>
        </p:spPr>
        <p:txBody>
          <a:bodyPr wrap="square" rtlCol="0" anchor="t"/>
          <a:lstStyle/>
          <a:p>
            <a:pPr marL="0" indent="0" algn="ctr">
              <a:buNone/>
            </a:pPr>
            <a:r>
              <a:rPr lang="en-US" sz="1300" b="1" dirty="0">
                <a:solidFill>
                  <a:srgbClr val="14213D"/>
                </a:solidFill>
                <a:latin typeface="Calibri" pitchFamily="34" charset="0"/>
                <a:ea typeface="Calibri" pitchFamily="34" charset="-122"/>
                <a:cs typeface="Calibri" pitchFamily="34" charset="-120"/>
              </a:rPr>
              <a:t>Dual XGBoost</a:t>
            </a:r>
            <a:endParaRPr lang="en-US" sz="1300" dirty="0"/>
          </a:p>
          <a:p>
            <a:pPr marL="0" indent="0" algn="ctr">
              <a:buNone/>
            </a:pPr>
            <a:r>
              <a:rPr lang="en-US" sz="1300" b="1" dirty="0">
                <a:solidFill>
                  <a:srgbClr val="14213D"/>
                </a:solidFill>
                <a:latin typeface="Calibri" pitchFamily="34" charset="0"/>
                <a:ea typeface="Calibri" pitchFamily="34" charset="-122"/>
                <a:cs typeface="Calibri" pitchFamily="34" charset="-120"/>
              </a:rPr>
              <a:t>Models</a:t>
            </a:r>
            <a:endParaRPr lang="en-US" sz="1300" dirty="0"/>
          </a:p>
        </p:txBody>
      </p:sp>
      <p:sp>
        <p:nvSpPr>
          <p:cNvPr id="22" name="Text 16"/>
          <p:cNvSpPr/>
          <p:nvPr/>
        </p:nvSpPr>
        <p:spPr>
          <a:xfrm>
            <a:off x="5175504" y="3108960"/>
            <a:ext cx="1810512" cy="777240"/>
          </a:xfrm>
          <a:prstGeom prst="rect">
            <a:avLst/>
          </a:prstGeom>
          <a:noFill/>
          <a:ln/>
        </p:spPr>
        <p:txBody>
          <a:bodyPr wrap="square" rtlCol="0" anchor="t"/>
          <a:lstStyle/>
          <a:p>
            <a:pPr marL="0" indent="0" algn="ctr">
              <a:lnSpc>
                <a:spcPct val="115000"/>
              </a:lnSpc>
              <a:buNone/>
            </a:pPr>
            <a:r>
              <a:rPr lang="en-US" sz="1050" dirty="0">
                <a:solidFill>
                  <a:srgbClr val="4A5568"/>
                </a:solidFill>
                <a:latin typeface="Calibri" pitchFamily="34" charset="0"/>
                <a:ea typeface="Calibri" pitchFamily="34" charset="-122"/>
                <a:cs typeface="Calibri" pitchFamily="34" charset="-120"/>
              </a:rPr>
              <a:t>Batting AUC 0.86</a:t>
            </a:r>
            <a:endParaRPr lang="en-US" sz="1050" dirty="0"/>
          </a:p>
          <a:p>
            <a:pPr marL="0" indent="0" algn="ctr">
              <a:lnSpc>
                <a:spcPct val="115000"/>
              </a:lnSpc>
              <a:buNone/>
            </a:pPr>
            <a:r>
              <a:rPr lang="en-US" sz="1050" dirty="0">
                <a:solidFill>
                  <a:srgbClr val="4A5568"/>
                </a:solidFill>
                <a:latin typeface="Calibri" pitchFamily="34" charset="0"/>
                <a:ea typeface="Calibri" pitchFamily="34" charset="-122"/>
                <a:cs typeface="Calibri" pitchFamily="34" charset="-120"/>
              </a:rPr>
              <a:t>Bowling AUC 0.88</a:t>
            </a:r>
            <a:endParaRPr lang="en-US" sz="1050" dirty="0"/>
          </a:p>
        </p:txBody>
      </p:sp>
      <p:sp>
        <p:nvSpPr>
          <p:cNvPr id="23" name="Text 17"/>
          <p:cNvSpPr/>
          <p:nvPr/>
        </p:nvSpPr>
        <p:spPr>
          <a:xfrm>
            <a:off x="7040880" y="2468880"/>
            <a:ext cx="356616" cy="457200"/>
          </a:xfrm>
          <a:prstGeom prst="rect">
            <a:avLst/>
          </a:prstGeom>
          <a:noFill/>
          <a:ln/>
        </p:spPr>
        <p:txBody>
          <a:bodyPr wrap="square" rtlCol="0" anchor="ctr"/>
          <a:lstStyle/>
          <a:p>
            <a:pPr marL="0" indent="0" algn="ctr">
              <a:buNone/>
            </a:pPr>
            <a:r>
              <a:rPr lang="en-US" sz="2000" b="1" dirty="0">
                <a:solidFill>
                  <a:srgbClr val="D4A017"/>
                </a:solidFill>
                <a:latin typeface="Arial" pitchFamily="34" charset="0"/>
                <a:ea typeface="Arial" pitchFamily="34" charset="-122"/>
                <a:cs typeface="Arial" pitchFamily="34" charset="-120"/>
              </a:rPr>
              <a:t>→</a:t>
            </a:r>
            <a:endParaRPr lang="en-US" sz="2000" dirty="0"/>
          </a:p>
        </p:txBody>
      </p:sp>
      <p:sp>
        <p:nvSpPr>
          <p:cNvPr id="24" name="Shape 18"/>
          <p:cNvSpPr/>
          <p:nvPr/>
        </p:nvSpPr>
        <p:spPr>
          <a:xfrm>
            <a:off x="7379208" y="1600200"/>
            <a:ext cx="1956816" cy="2331720"/>
          </a:xfrm>
          <a:prstGeom prst="roundRect">
            <a:avLst>
              <a:gd name="adj" fmla="val 3271"/>
            </a:avLst>
          </a:prstGeom>
          <a:solidFill>
            <a:srgbClr val="FFFFFF"/>
          </a:solidFill>
          <a:ln w="12700">
            <a:solidFill>
              <a:srgbClr val="E8E9ED"/>
            </a:solidFill>
            <a:prstDash val="solid"/>
          </a:ln>
          <a:effectLst>
            <a:outerShdw blurRad="76200" dist="25400" dir="5400000" algn="bl" rotWithShape="0">
              <a:srgbClr val="000000">
                <a:alpha val="12000"/>
              </a:srgbClr>
            </a:outerShdw>
          </a:effectLst>
        </p:spPr>
      </p:sp>
      <p:sp>
        <p:nvSpPr>
          <p:cNvPr id="25" name="Shape 19"/>
          <p:cNvSpPr/>
          <p:nvPr/>
        </p:nvSpPr>
        <p:spPr>
          <a:xfrm>
            <a:off x="8065008" y="1856232"/>
            <a:ext cx="585216" cy="585216"/>
          </a:xfrm>
          <a:prstGeom prst="ellipse">
            <a:avLst/>
          </a:prstGeom>
          <a:solidFill>
            <a:srgbClr val="D4A017"/>
          </a:solidFill>
          <a:ln/>
        </p:spPr>
      </p:sp>
      <p:pic>
        <p:nvPicPr>
          <p:cNvPr id="26" name="Image 4" descr="icon_shuffle.png"/>
          <p:cNvPicPr>
            <a:picLocks noChangeAspect="1"/>
          </p:cNvPicPr>
          <p:nvPr/>
        </p:nvPicPr>
        <p:blipFill>
          <a:blip r:embed="rId7"/>
          <a:stretch>
            <a:fillRect/>
          </a:stretch>
        </p:blipFill>
        <p:spPr>
          <a:xfrm>
            <a:off x="8205460" y="1996684"/>
            <a:ext cx="304312" cy="304312"/>
          </a:xfrm>
          <a:prstGeom prst="rect">
            <a:avLst/>
          </a:prstGeom>
        </p:spPr>
      </p:pic>
      <p:sp>
        <p:nvSpPr>
          <p:cNvPr id="27" name="Text 20"/>
          <p:cNvSpPr/>
          <p:nvPr/>
        </p:nvSpPr>
        <p:spPr>
          <a:xfrm>
            <a:off x="7452360" y="2560320"/>
            <a:ext cx="1810512" cy="548640"/>
          </a:xfrm>
          <a:prstGeom prst="rect">
            <a:avLst/>
          </a:prstGeom>
          <a:noFill/>
          <a:ln/>
        </p:spPr>
        <p:txBody>
          <a:bodyPr wrap="square" rtlCol="0" anchor="t"/>
          <a:lstStyle/>
          <a:p>
            <a:pPr marL="0" indent="0" algn="ctr">
              <a:buNone/>
            </a:pPr>
            <a:r>
              <a:rPr lang="en-US" sz="1300" b="1" dirty="0">
                <a:solidFill>
                  <a:srgbClr val="14213D"/>
                </a:solidFill>
                <a:latin typeface="Calibri" pitchFamily="34" charset="0"/>
                <a:ea typeface="Calibri" pitchFamily="34" charset="-122"/>
                <a:cs typeface="Calibri" pitchFamily="34" charset="-120"/>
              </a:rPr>
              <a:t>LP</a:t>
            </a:r>
            <a:endParaRPr lang="en-US" sz="1300" dirty="0"/>
          </a:p>
          <a:p>
            <a:pPr marL="0" indent="0" algn="ctr">
              <a:buNone/>
            </a:pPr>
            <a:r>
              <a:rPr lang="en-US" sz="1300" b="1" dirty="0">
                <a:solidFill>
                  <a:srgbClr val="14213D"/>
                </a:solidFill>
                <a:latin typeface="Calibri" pitchFamily="34" charset="0"/>
                <a:ea typeface="Calibri" pitchFamily="34" charset="-122"/>
                <a:cs typeface="Calibri" pitchFamily="34" charset="-120"/>
              </a:rPr>
              <a:t>Optimizer</a:t>
            </a:r>
            <a:endParaRPr lang="en-US" sz="1300" dirty="0"/>
          </a:p>
        </p:txBody>
      </p:sp>
      <p:sp>
        <p:nvSpPr>
          <p:cNvPr id="28" name="Text 21"/>
          <p:cNvSpPr/>
          <p:nvPr/>
        </p:nvSpPr>
        <p:spPr>
          <a:xfrm>
            <a:off x="7452360" y="3108960"/>
            <a:ext cx="1810512" cy="777240"/>
          </a:xfrm>
          <a:prstGeom prst="rect">
            <a:avLst/>
          </a:prstGeom>
          <a:noFill/>
          <a:ln/>
        </p:spPr>
        <p:txBody>
          <a:bodyPr wrap="square" rtlCol="0" anchor="t"/>
          <a:lstStyle/>
          <a:p>
            <a:pPr marL="0" indent="0" algn="ctr">
              <a:lnSpc>
                <a:spcPct val="115000"/>
              </a:lnSpc>
              <a:buNone/>
            </a:pPr>
            <a:r>
              <a:rPr lang="en-US" sz="1050" dirty="0">
                <a:solidFill>
                  <a:srgbClr val="4A5568"/>
                </a:solidFill>
                <a:latin typeface="Calibri" pitchFamily="34" charset="0"/>
                <a:ea typeface="Calibri" pitchFamily="34" charset="-122"/>
                <a:cs typeface="Calibri" pitchFamily="34" charset="-120"/>
              </a:rPr>
              <a:t>PuLP — auction</a:t>
            </a:r>
            <a:endParaRPr lang="en-US" sz="1050" dirty="0"/>
          </a:p>
          <a:p>
            <a:pPr marL="0" indent="0" algn="ctr">
              <a:lnSpc>
                <a:spcPct val="115000"/>
              </a:lnSpc>
              <a:buNone/>
            </a:pPr>
            <a:r>
              <a:rPr lang="en-US" sz="1050" dirty="0">
                <a:solidFill>
                  <a:srgbClr val="4A5568"/>
                </a:solidFill>
                <a:latin typeface="Calibri" pitchFamily="34" charset="0"/>
                <a:ea typeface="Calibri" pitchFamily="34" charset="-122"/>
                <a:cs typeface="Calibri" pitchFamily="34" charset="-120"/>
              </a:rPr>
              <a:t>constraints</a:t>
            </a:r>
            <a:endParaRPr lang="en-US" sz="1050" dirty="0"/>
          </a:p>
        </p:txBody>
      </p:sp>
      <p:sp>
        <p:nvSpPr>
          <p:cNvPr id="29" name="Text 22"/>
          <p:cNvSpPr/>
          <p:nvPr/>
        </p:nvSpPr>
        <p:spPr>
          <a:xfrm>
            <a:off x="9317736" y="2468880"/>
            <a:ext cx="356616" cy="457200"/>
          </a:xfrm>
          <a:prstGeom prst="rect">
            <a:avLst/>
          </a:prstGeom>
          <a:noFill/>
          <a:ln/>
        </p:spPr>
        <p:txBody>
          <a:bodyPr wrap="square" rtlCol="0" anchor="ctr"/>
          <a:lstStyle/>
          <a:p>
            <a:pPr marL="0" indent="0" algn="ctr">
              <a:buNone/>
            </a:pPr>
            <a:r>
              <a:rPr lang="en-US" sz="2000" b="1" dirty="0">
                <a:solidFill>
                  <a:srgbClr val="D4A017"/>
                </a:solidFill>
                <a:latin typeface="Arial" pitchFamily="34" charset="0"/>
                <a:ea typeface="Arial" pitchFamily="34" charset="-122"/>
                <a:cs typeface="Arial" pitchFamily="34" charset="-120"/>
              </a:rPr>
              <a:t>→</a:t>
            </a:r>
            <a:endParaRPr lang="en-US" sz="2000" dirty="0"/>
          </a:p>
        </p:txBody>
      </p:sp>
      <p:sp>
        <p:nvSpPr>
          <p:cNvPr id="30" name="Shape 23"/>
          <p:cNvSpPr/>
          <p:nvPr/>
        </p:nvSpPr>
        <p:spPr>
          <a:xfrm>
            <a:off x="9656064" y="1600200"/>
            <a:ext cx="1956816" cy="2331720"/>
          </a:xfrm>
          <a:prstGeom prst="roundRect">
            <a:avLst>
              <a:gd name="adj" fmla="val 3271"/>
            </a:avLst>
          </a:prstGeom>
          <a:solidFill>
            <a:srgbClr val="FFFFFF"/>
          </a:solidFill>
          <a:ln w="12700">
            <a:solidFill>
              <a:srgbClr val="E8E9ED"/>
            </a:solidFill>
            <a:prstDash val="solid"/>
          </a:ln>
          <a:effectLst>
            <a:outerShdw blurRad="76200" dist="25400" dir="5400000" algn="bl" rotWithShape="0">
              <a:srgbClr val="000000">
                <a:alpha val="12000"/>
              </a:srgbClr>
            </a:outerShdw>
          </a:effectLst>
        </p:spPr>
      </p:sp>
      <p:sp>
        <p:nvSpPr>
          <p:cNvPr id="31" name="Shape 24"/>
          <p:cNvSpPr/>
          <p:nvPr/>
        </p:nvSpPr>
        <p:spPr>
          <a:xfrm>
            <a:off x="10341864" y="1856232"/>
            <a:ext cx="585216" cy="585216"/>
          </a:xfrm>
          <a:prstGeom prst="ellipse">
            <a:avLst/>
          </a:prstGeom>
          <a:solidFill>
            <a:srgbClr val="B8860B"/>
          </a:solidFill>
          <a:ln/>
        </p:spPr>
      </p:sp>
      <p:pic>
        <p:nvPicPr>
          <p:cNvPr id="32" name="Image 5" descr="icon_server.png"/>
          <p:cNvPicPr>
            <a:picLocks noChangeAspect="1"/>
          </p:cNvPicPr>
          <p:nvPr/>
        </p:nvPicPr>
        <p:blipFill>
          <a:blip r:embed="rId8"/>
          <a:stretch>
            <a:fillRect/>
          </a:stretch>
        </p:blipFill>
        <p:spPr>
          <a:xfrm>
            <a:off x="10482316" y="1996684"/>
            <a:ext cx="304312" cy="304312"/>
          </a:xfrm>
          <a:prstGeom prst="rect">
            <a:avLst/>
          </a:prstGeom>
        </p:spPr>
      </p:pic>
      <p:sp>
        <p:nvSpPr>
          <p:cNvPr id="33" name="Text 25"/>
          <p:cNvSpPr/>
          <p:nvPr/>
        </p:nvSpPr>
        <p:spPr>
          <a:xfrm>
            <a:off x="9729216" y="2560320"/>
            <a:ext cx="1810512" cy="548640"/>
          </a:xfrm>
          <a:prstGeom prst="rect">
            <a:avLst/>
          </a:prstGeom>
          <a:noFill/>
          <a:ln/>
        </p:spPr>
        <p:txBody>
          <a:bodyPr wrap="square" rtlCol="0" anchor="t"/>
          <a:lstStyle/>
          <a:p>
            <a:pPr marL="0" indent="0" algn="ctr">
              <a:buNone/>
            </a:pPr>
            <a:r>
              <a:rPr lang="en-US" sz="1300" b="1" dirty="0">
                <a:solidFill>
                  <a:srgbClr val="14213D"/>
                </a:solidFill>
                <a:latin typeface="Calibri" pitchFamily="34" charset="0"/>
                <a:ea typeface="Calibri" pitchFamily="34" charset="-122"/>
                <a:cs typeface="Calibri" pitchFamily="34" charset="-120"/>
              </a:rPr>
              <a:t>Deployed</a:t>
            </a:r>
            <a:endParaRPr lang="en-US" sz="1300" dirty="0"/>
          </a:p>
          <a:p>
            <a:pPr marL="0" indent="0" algn="ctr">
              <a:buNone/>
            </a:pPr>
            <a:r>
              <a:rPr lang="en-US" sz="1300" b="1" dirty="0">
                <a:solidFill>
                  <a:srgbClr val="14213D"/>
                </a:solidFill>
                <a:latin typeface="Calibri" pitchFamily="34" charset="0"/>
                <a:ea typeface="Calibri" pitchFamily="34" charset="-122"/>
                <a:cs typeface="Calibri" pitchFamily="34" charset="-120"/>
              </a:rPr>
              <a:t>App</a:t>
            </a:r>
            <a:endParaRPr lang="en-US" sz="1300" dirty="0"/>
          </a:p>
        </p:txBody>
      </p:sp>
      <p:sp>
        <p:nvSpPr>
          <p:cNvPr id="34" name="Text 26"/>
          <p:cNvSpPr/>
          <p:nvPr/>
        </p:nvSpPr>
        <p:spPr>
          <a:xfrm>
            <a:off x="9729216" y="3108960"/>
            <a:ext cx="1810512" cy="777240"/>
          </a:xfrm>
          <a:prstGeom prst="rect">
            <a:avLst/>
          </a:prstGeom>
          <a:noFill/>
          <a:ln/>
        </p:spPr>
        <p:txBody>
          <a:bodyPr wrap="square" rtlCol="0" anchor="t"/>
          <a:lstStyle/>
          <a:p>
            <a:pPr marL="0" indent="0" algn="ctr">
              <a:lnSpc>
                <a:spcPct val="115000"/>
              </a:lnSpc>
              <a:buNone/>
            </a:pPr>
            <a:r>
              <a:rPr lang="en-US" sz="1050" dirty="0">
                <a:solidFill>
                  <a:srgbClr val="4A5568"/>
                </a:solidFill>
                <a:latin typeface="Calibri" pitchFamily="34" charset="0"/>
                <a:ea typeface="Calibri" pitchFamily="34" charset="-122"/>
                <a:cs typeface="Calibri" pitchFamily="34" charset="-120"/>
              </a:rPr>
              <a:t>FastAPI + Railway</a:t>
            </a:r>
            <a:endParaRPr lang="en-US" sz="1050" dirty="0"/>
          </a:p>
          <a:p>
            <a:pPr marL="0" indent="0" algn="ctr">
              <a:lnSpc>
                <a:spcPct val="115000"/>
              </a:lnSpc>
              <a:buNone/>
            </a:pPr>
            <a:r>
              <a:rPr lang="en-US" sz="1050" dirty="0">
                <a:solidFill>
                  <a:srgbClr val="4A5568"/>
                </a:solidFill>
                <a:latin typeface="Calibri" pitchFamily="34" charset="0"/>
                <a:ea typeface="Calibri" pitchFamily="34" charset="-122"/>
                <a:cs typeface="Calibri" pitchFamily="34" charset="-120"/>
              </a:rPr>
              <a:t>Streamlit Cloud</a:t>
            </a:r>
            <a:endParaRPr lang="en-US" sz="1050" dirty="0"/>
          </a:p>
        </p:txBody>
      </p:sp>
      <p:sp>
        <p:nvSpPr>
          <p:cNvPr id="35" name="Shape 27"/>
          <p:cNvSpPr/>
          <p:nvPr/>
        </p:nvSpPr>
        <p:spPr>
          <a:xfrm>
            <a:off x="548640" y="4206240"/>
            <a:ext cx="11064240" cy="1965960"/>
          </a:xfrm>
          <a:prstGeom prst="roundRect">
            <a:avLst>
              <a:gd name="adj" fmla="val 3256"/>
            </a:avLst>
          </a:prstGeom>
          <a:solidFill>
            <a:srgbClr val="14213D"/>
          </a:solidFill>
          <a:ln/>
        </p:spPr>
      </p:sp>
      <p:sp>
        <p:nvSpPr>
          <p:cNvPr id="36" name="Text 28"/>
          <p:cNvSpPr/>
          <p:nvPr/>
        </p:nvSpPr>
        <p:spPr>
          <a:xfrm>
            <a:off x="868680" y="4389120"/>
            <a:ext cx="10424160" cy="292608"/>
          </a:xfrm>
          <a:prstGeom prst="rect">
            <a:avLst/>
          </a:prstGeom>
          <a:noFill/>
          <a:ln/>
        </p:spPr>
        <p:txBody>
          <a:bodyPr wrap="square" rtlCol="0" anchor="ctr"/>
          <a:lstStyle/>
          <a:p>
            <a:pPr marL="0" indent="0">
              <a:buNone/>
            </a:pPr>
            <a:r>
              <a:rPr lang="en-US" sz="1200" b="1" kern="0" spc="100" dirty="0">
                <a:solidFill>
                  <a:srgbClr val="D4A017"/>
                </a:solidFill>
                <a:latin typeface="Calibri" pitchFamily="34" charset="0"/>
                <a:ea typeface="Calibri" pitchFamily="34" charset="-122"/>
                <a:cs typeface="Calibri" pitchFamily="34" charset="-120"/>
              </a:rPr>
              <a:t>WHY TWO SEPARATE MODELS, NOT ONE COMBINED MODEL</a:t>
            </a:r>
            <a:endParaRPr lang="en-US" sz="1200" dirty="0"/>
          </a:p>
        </p:txBody>
      </p:sp>
      <p:sp>
        <p:nvSpPr>
          <p:cNvPr id="37" name="Text 29"/>
          <p:cNvSpPr/>
          <p:nvPr/>
        </p:nvSpPr>
        <p:spPr>
          <a:xfrm>
            <a:off x="868680" y="4736592"/>
            <a:ext cx="10424160" cy="822960"/>
          </a:xfrm>
          <a:prstGeom prst="rect">
            <a:avLst/>
          </a:prstGeom>
          <a:noFill/>
          <a:ln/>
        </p:spPr>
        <p:txBody>
          <a:bodyPr wrap="square" rtlCol="0" anchor="ctr"/>
          <a:lstStyle/>
          <a:p>
            <a:pPr marL="0" indent="0">
              <a:lnSpc>
                <a:spcPct val="130000"/>
              </a:lnSpc>
              <a:buNone/>
            </a:pPr>
            <a:r>
              <a:rPr lang="en-US" sz="1400" dirty="0">
                <a:solidFill>
                  <a:srgbClr val="FFFFFF"/>
                </a:solidFill>
                <a:latin typeface="Calibri" pitchFamily="34" charset="0"/>
                <a:ea typeface="Calibri" pitchFamily="34" charset="-122"/>
                <a:cs typeface="Calibri" pitchFamily="34" charset="-120"/>
              </a:rPr>
              <a:t>Batting and bowling contribution use different features (phase strike rate vs. economy), </a:t>
            </a:r>
            <a:r>
              <a:rPr lang="en-US" sz="1400" b="1" dirty="0">
                <a:solidFill>
                  <a:srgbClr val="F0C766"/>
                </a:solidFill>
                <a:latin typeface="Calibri" pitchFamily="34" charset="0"/>
                <a:ea typeface="Calibri" pitchFamily="34" charset="-122"/>
                <a:cs typeface="Calibri" pitchFamily="34" charset="-120"/>
              </a:rPr>
              <a:t>different class balance </a:t>
            </a:r>
            <a:r>
              <a:rPr lang="en-US" sz="1400" dirty="0">
                <a:solidFill>
                  <a:srgbClr val="FFFFFF"/>
                </a:solidFill>
                <a:latin typeface="Calibri" pitchFamily="34" charset="0"/>
                <a:ea typeface="Calibri" pitchFamily="34" charset="-122"/>
                <a:cs typeface="Calibri" pitchFamily="34" charset="-120"/>
              </a:rPr>
              <a:t>(21.8% vs. 32.1% positive rate), and </a:t>
            </a:r>
            <a:r>
              <a:rPr lang="en-US" sz="1400" b="1" dirty="0">
                <a:solidFill>
                  <a:srgbClr val="F0C766"/>
                </a:solidFill>
                <a:latin typeface="Calibri" pitchFamily="34" charset="0"/>
                <a:ea typeface="Calibri" pitchFamily="34" charset="-122"/>
                <a:cs typeface="Calibri" pitchFamily="34" charset="-120"/>
              </a:rPr>
              <a:t>different contribution definitions</a:t>
            </a:r>
            <a:r>
              <a:rPr lang="en-US" sz="1400" dirty="0">
                <a:solidFill>
                  <a:srgbClr val="FFFFFF"/>
                </a:solidFill>
                <a:latin typeface="Calibri" pitchFamily="34" charset="0"/>
                <a:ea typeface="Calibri" pitchFamily="34" charset="-122"/>
                <a:cs typeface="Calibri" pitchFamily="34" charset="-120"/>
              </a:rPr>
              <a:t>. A single combined model would blur both signals into a weaker average.</a:t>
            </a:r>
            <a:endParaRPr lang="en-US" sz="1400" dirty="0"/>
          </a:p>
        </p:txBody>
      </p:sp>
      <p:sp>
        <p:nvSpPr>
          <p:cNvPr id="38" name="Text 30"/>
          <p:cNvSpPr/>
          <p:nvPr/>
        </p:nvSpPr>
        <p:spPr>
          <a:xfrm>
            <a:off x="868680" y="5532120"/>
            <a:ext cx="10424160" cy="548640"/>
          </a:xfrm>
          <a:prstGeom prst="rect">
            <a:avLst/>
          </a:prstGeom>
          <a:noFill/>
          <a:ln/>
        </p:spPr>
        <p:txBody>
          <a:bodyPr wrap="square" rtlCol="0" anchor="ctr"/>
          <a:lstStyle/>
          <a:p>
            <a:pPr marL="0" indent="0">
              <a:buNone/>
            </a:pPr>
            <a:r>
              <a:rPr lang="en-US" sz="1300" i="1" dirty="0">
                <a:solidFill>
                  <a:srgbClr val="E8E9ED"/>
                </a:solidFill>
                <a:latin typeface="Calibri" pitchFamily="34" charset="0"/>
                <a:ea typeface="Calibri" pitchFamily="34" charset="-122"/>
                <a:cs typeface="Calibri" pitchFamily="34" charset="-120"/>
              </a:rPr>
              <a:t>The LP optimizer then combines both model outputs into one squad decision — role balance, overseas cap, pace/spin ratio, age-adjusted scoring.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5"/>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4213D"/>
          </a:solidFill>
          <a:ln/>
        </p:spPr>
      </p:sp>
      <p:pic>
        <p:nvPicPr>
          <p:cNvPr id="3" name="Image 0" descr="icon_target.png"/>
          <p:cNvPicPr>
            <a:picLocks noChangeAspect="1"/>
          </p:cNvPicPr>
          <p:nvPr/>
        </p:nvPicPr>
        <p:blipFill>
          <a:blip r:embed="rId3"/>
          <a:stretch>
            <a:fillRect/>
          </a:stretch>
        </p:blipFill>
        <p:spPr>
          <a:xfrm>
            <a:off x="669341" y="577901"/>
            <a:ext cx="261518" cy="261518"/>
          </a:xfrm>
          <a:prstGeom prst="rect">
            <a:avLst/>
          </a:prstGeom>
        </p:spPr>
      </p:pic>
      <p:sp>
        <p:nvSpPr>
          <p:cNvPr id="4" name="Text 1"/>
          <p:cNvSpPr/>
          <p:nvPr/>
        </p:nvSpPr>
        <p:spPr>
          <a:xfrm>
            <a:off x="1234440" y="438912"/>
            <a:ext cx="8229600" cy="548640"/>
          </a:xfrm>
          <a:prstGeom prst="rect">
            <a:avLst/>
          </a:prstGeom>
          <a:noFill/>
          <a:ln/>
        </p:spPr>
        <p:txBody>
          <a:bodyPr wrap="square"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Key Technical Decisions</a:t>
            </a:r>
            <a:endParaRPr lang="en-US" sz="2800" dirty="0"/>
          </a:p>
        </p:txBody>
      </p:sp>
      <p:sp>
        <p:nvSpPr>
          <p:cNvPr id="5" name="Text 2"/>
          <p:cNvSpPr/>
          <p:nvPr/>
        </p:nvSpPr>
        <p:spPr>
          <a:xfrm>
            <a:off x="1234440" y="960120"/>
            <a:ext cx="9601200" cy="320040"/>
          </a:xfrm>
          <a:prstGeom prst="rect">
            <a:avLst/>
          </a:prstGeom>
          <a:noFill/>
          <a:ln/>
        </p:spPr>
        <p:txBody>
          <a:bodyPr wrap="square"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The two design choices that determine whether this model is trustworthy</a:t>
            </a:r>
            <a:endParaRPr lang="en-US" sz="1300" dirty="0"/>
          </a:p>
        </p:txBody>
      </p:sp>
      <p:sp>
        <p:nvSpPr>
          <p:cNvPr id="6" name="Shape 3"/>
          <p:cNvSpPr/>
          <p:nvPr/>
        </p:nvSpPr>
        <p:spPr>
          <a:xfrm>
            <a:off x="548640" y="1600200"/>
            <a:ext cx="5349240" cy="4892040"/>
          </a:xfrm>
          <a:prstGeom prst="roundRect">
            <a:avLst>
              <a:gd name="adj" fmla="val 1308"/>
            </a:avLst>
          </a:prstGeom>
          <a:solidFill>
            <a:srgbClr val="FFFFFF"/>
          </a:solidFill>
          <a:ln w="12700">
            <a:solidFill>
              <a:srgbClr val="E8E9ED"/>
            </a:solidFill>
            <a:prstDash val="solid"/>
          </a:ln>
          <a:effectLst>
            <a:outerShdw blurRad="76200" dist="25400" dir="5400000" algn="bl" rotWithShape="0">
              <a:srgbClr val="000000">
                <a:alpha val="10000"/>
              </a:srgbClr>
            </a:outerShdw>
          </a:effectLst>
        </p:spPr>
      </p:sp>
      <p:sp>
        <p:nvSpPr>
          <p:cNvPr id="7" name="Shape 4"/>
          <p:cNvSpPr/>
          <p:nvPr/>
        </p:nvSpPr>
        <p:spPr>
          <a:xfrm>
            <a:off x="822960" y="1874520"/>
            <a:ext cx="502920" cy="502920"/>
          </a:xfrm>
          <a:prstGeom prst="ellipse">
            <a:avLst/>
          </a:prstGeom>
          <a:solidFill>
            <a:srgbClr val="1E7A4C"/>
          </a:solidFill>
          <a:ln/>
        </p:spPr>
      </p:sp>
      <p:pic>
        <p:nvPicPr>
          <p:cNvPr id="8" name="Image 1" descr="icon_checkcircle.png"/>
          <p:cNvPicPr>
            <a:picLocks noChangeAspect="1"/>
          </p:cNvPicPr>
          <p:nvPr/>
        </p:nvPicPr>
        <p:blipFill>
          <a:blip r:embed="rId4"/>
          <a:stretch>
            <a:fillRect/>
          </a:stretch>
        </p:blipFill>
        <p:spPr>
          <a:xfrm>
            <a:off x="943661" y="1995221"/>
            <a:ext cx="261518" cy="261518"/>
          </a:xfrm>
          <a:prstGeom prst="rect">
            <a:avLst/>
          </a:prstGeom>
        </p:spPr>
      </p:pic>
      <p:sp>
        <p:nvSpPr>
          <p:cNvPr id="9" name="Text 5"/>
          <p:cNvSpPr/>
          <p:nvPr/>
        </p:nvSpPr>
        <p:spPr>
          <a:xfrm>
            <a:off x="1463040" y="1892808"/>
            <a:ext cx="4160520" cy="457200"/>
          </a:xfrm>
          <a:prstGeom prst="rect">
            <a:avLst/>
          </a:prstGeom>
          <a:noFill/>
          <a:ln/>
        </p:spPr>
        <p:txBody>
          <a:bodyPr wrap="square" rtlCol="0" anchor="ctr"/>
          <a:lstStyle/>
          <a:p>
            <a:pPr marL="0" indent="0">
              <a:buNone/>
            </a:pPr>
            <a:r>
              <a:rPr lang="en-US" sz="1700" b="1" dirty="0">
                <a:solidFill>
                  <a:srgbClr val="14213D"/>
                </a:solidFill>
                <a:latin typeface="Calibri" pitchFamily="34" charset="0"/>
                <a:ea typeface="Calibri" pitchFamily="34" charset="-122"/>
                <a:cs typeface="Calibri" pitchFamily="34" charset="-120"/>
              </a:rPr>
              <a:t>1. Label Design</a:t>
            </a:r>
            <a:endParaRPr lang="en-US" sz="1700" dirty="0"/>
          </a:p>
        </p:txBody>
      </p:sp>
      <p:sp>
        <p:nvSpPr>
          <p:cNvPr id="10" name="Text 6"/>
          <p:cNvSpPr/>
          <p:nvPr/>
        </p:nvSpPr>
        <p:spPr>
          <a:xfrm>
            <a:off x="822960" y="2514600"/>
            <a:ext cx="4800600" cy="914400"/>
          </a:xfrm>
          <a:prstGeom prst="rect">
            <a:avLst/>
          </a:prstGeom>
          <a:noFill/>
          <a:ln/>
        </p:spPr>
        <p:txBody>
          <a:bodyPr wrap="square" rtlCol="0" anchor="ctr"/>
          <a:lstStyle/>
          <a:p>
            <a:pPr marL="0" indent="0">
              <a:lnSpc>
                <a:spcPct val="125000"/>
              </a:lnSpc>
              <a:buNone/>
            </a:pPr>
            <a:r>
              <a:rPr lang="en-US" sz="1250" b="1" dirty="0">
                <a:solidFill>
                  <a:srgbClr val="C0392B"/>
                </a:solidFill>
                <a:latin typeface="Calibri" pitchFamily="34" charset="0"/>
                <a:ea typeface="Calibri" pitchFamily="34" charset="-122"/>
                <a:cs typeface="Calibri" pitchFamily="34" charset="-120"/>
              </a:rPr>
              <a:t>The problem: </a:t>
            </a:r>
            <a:r>
              <a:rPr lang="en-US" sz="1250" dirty="0">
                <a:solidFill>
                  <a:srgbClr val="4A5568"/>
                </a:solidFill>
                <a:latin typeface="Calibri" pitchFamily="34" charset="0"/>
                <a:ea typeface="Calibri" pitchFamily="34" charset="-122"/>
                <a:cs typeface="Calibri" pitchFamily="34" charset="-120"/>
              </a:rPr>
              <a:t>Using match win/loss as the label directly is wrong. Kohli scoring 82 in a losing match would get label = 0 — the model learns 82 runs is a failure.</a:t>
            </a:r>
            <a:endParaRPr lang="en-US" sz="1250" dirty="0"/>
          </a:p>
        </p:txBody>
      </p:sp>
      <p:sp>
        <p:nvSpPr>
          <p:cNvPr id="11" name="Shape 7"/>
          <p:cNvSpPr/>
          <p:nvPr/>
        </p:nvSpPr>
        <p:spPr>
          <a:xfrm>
            <a:off x="822960" y="3474720"/>
            <a:ext cx="4800600" cy="1417320"/>
          </a:xfrm>
          <a:prstGeom prst="roundRect">
            <a:avLst>
              <a:gd name="adj" fmla="val 3226"/>
            </a:avLst>
          </a:prstGeom>
          <a:solidFill>
            <a:srgbClr val="F7F7F5"/>
          </a:solidFill>
          <a:ln w="9525">
            <a:solidFill>
              <a:srgbClr val="E8E9ED"/>
            </a:solidFill>
            <a:prstDash val="solid"/>
          </a:ln>
        </p:spPr>
      </p:sp>
      <p:sp>
        <p:nvSpPr>
          <p:cNvPr id="12" name="Text 8"/>
          <p:cNvSpPr/>
          <p:nvPr/>
        </p:nvSpPr>
        <p:spPr>
          <a:xfrm>
            <a:off x="1005840" y="3593592"/>
            <a:ext cx="4434840" cy="256032"/>
          </a:xfrm>
          <a:prstGeom prst="rect">
            <a:avLst/>
          </a:prstGeom>
          <a:noFill/>
          <a:ln/>
        </p:spPr>
        <p:txBody>
          <a:bodyPr wrap="square" rtlCol="0" anchor="ctr"/>
          <a:lstStyle/>
          <a:p>
            <a:pPr marL="0" indent="0">
              <a:buNone/>
            </a:pPr>
            <a:r>
              <a:rPr lang="en-US" sz="1150" b="1" dirty="0">
                <a:solidFill>
                  <a:srgbClr val="14213D"/>
                </a:solidFill>
                <a:latin typeface="Calibri" pitchFamily="34" charset="0"/>
                <a:ea typeface="Calibri" pitchFamily="34" charset="-122"/>
                <a:cs typeface="Calibri" pitchFamily="34" charset="-120"/>
              </a:rPr>
              <a:t>Batting contributed if:</a:t>
            </a:r>
            <a:endParaRPr lang="en-US" sz="1150" dirty="0"/>
          </a:p>
        </p:txBody>
      </p:sp>
      <p:sp>
        <p:nvSpPr>
          <p:cNvPr id="13" name="Text 9"/>
          <p:cNvSpPr/>
          <p:nvPr/>
        </p:nvSpPr>
        <p:spPr>
          <a:xfrm>
            <a:off x="1005840" y="3867912"/>
            <a:ext cx="4434840" cy="457200"/>
          </a:xfrm>
          <a:prstGeom prst="rect">
            <a:avLst/>
          </a:prstGeom>
          <a:noFill/>
          <a:ln/>
        </p:spPr>
        <p:txBody>
          <a:bodyPr wrap="square" rtlCol="0" anchor="ctr"/>
          <a:lstStyle/>
          <a:p>
            <a:pPr marL="0" indent="0">
              <a:lnSpc>
                <a:spcPct val="120000"/>
              </a:lnSpc>
              <a:buNone/>
            </a:pPr>
            <a:r>
              <a:rPr lang="en-US" sz="1100" dirty="0">
                <a:solidFill>
                  <a:srgbClr val="4A5568"/>
                </a:solidFill>
                <a:latin typeface="Calibri" pitchFamily="34" charset="0"/>
                <a:ea typeface="Calibri" pitchFamily="34" charset="-122"/>
                <a:cs typeface="Calibri" pitchFamily="34" charset="-120"/>
              </a:rPr>
              <a:t>25+ runs (any SR)  •  OR 15+ runs at SR ≥140  •  OR 10+ death-over runs at SR ≥160</a:t>
            </a:r>
            <a:endParaRPr lang="en-US" sz="1100" dirty="0"/>
          </a:p>
        </p:txBody>
      </p:sp>
      <p:sp>
        <p:nvSpPr>
          <p:cNvPr id="14" name="Text 10"/>
          <p:cNvSpPr/>
          <p:nvPr/>
        </p:nvSpPr>
        <p:spPr>
          <a:xfrm>
            <a:off x="1005840" y="4389120"/>
            <a:ext cx="4434840" cy="256032"/>
          </a:xfrm>
          <a:prstGeom prst="rect">
            <a:avLst/>
          </a:prstGeom>
          <a:noFill/>
          <a:ln/>
        </p:spPr>
        <p:txBody>
          <a:bodyPr wrap="square" rtlCol="0" anchor="ctr"/>
          <a:lstStyle/>
          <a:p>
            <a:pPr marL="0" indent="0">
              <a:buNone/>
            </a:pPr>
            <a:r>
              <a:rPr lang="en-US" sz="1150" b="1" dirty="0">
                <a:solidFill>
                  <a:srgbClr val="14213D"/>
                </a:solidFill>
                <a:latin typeface="Calibri" pitchFamily="34" charset="0"/>
                <a:ea typeface="Calibri" pitchFamily="34" charset="-122"/>
                <a:cs typeface="Calibri" pitchFamily="34" charset="-120"/>
              </a:rPr>
              <a:t>Bowling contributed if:</a:t>
            </a:r>
            <a:endParaRPr lang="en-US" sz="1150" dirty="0"/>
          </a:p>
        </p:txBody>
      </p:sp>
      <p:sp>
        <p:nvSpPr>
          <p:cNvPr id="15" name="Text 11"/>
          <p:cNvSpPr/>
          <p:nvPr/>
        </p:nvSpPr>
        <p:spPr>
          <a:xfrm>
            <a:off x="1005840" y="4533558"/>
            <a:ext cx="4434840" cy="457200"/>
          </a:xfrm>
          <a:prstGeom prst="rect">
            <a:avLst/>
          </a:prstGeom>
          <a:noFill/>
          <a:ln/>
        </p:spPr>
        <p:txBody>
          <a:bodyPr wrap="square" rtlCol="0" anchor="ctr"/>
          <a:lstStyle/>
          <a:p>
            <a:pPr marL="0" indent="0">
              <a:lnSpc>
                <a:spcPct val="120000"/>
              </a:lnSpc>
              <a:buNone/>
            </a:pPr>
            <a:r>
              <a:rPr lang="en-US" sz="1100" dirty="0">
                <a:solidFill>
                  <a:srgbClr val="4A5568"/>
                </a:solidFill>
                <a:latin typeface="Calibri" pitchFamily="34" charset="0"/>
                <a:ea typeface="Calibri" pitchFamily="34" charset="-122"/>
                <a:cs typeface="Calibri" pitchFamily="34" charset="-120"/>
              </a:rPr>
              <a:t>2+ wickets  •  OR economy ≤8.0 (3+ overs)  •  OR 1 wkt + economy ≤9.0</a:t>
            </a:r>
            <a:endParaRPr lang="en-US" sz="1100" dirty="0"/>
          </a:p>
        </p:txBody>
      </p:sp>
      <p:sp>
        <p:nvSpPr>
          <p:cNvPr id="16" name="Text 12"/>
          <p:cNvSpPr/>
          <p:nvPr/>
        </p:nvSpPr>
        <p:spPr>
          <a:xfrm>
            <a:off x="822960" y="5056632"/>
            <a:ext cx="4800600" cy="594360"/>
          </a:xfrm>
          <a:prstGeom prst="rect">
            <a:avLst/>
          </a:prstGeom>
          <a:noFill/>
          <a:ln/>
        </p:spPr>
        <p:txBody>
          <a:bodyPr wrap="square" rtlCol="0" anchor="ctr"/>
          <a:lstStyle/>
          <a:p>
            <a:pPr marL="0" indent="0">
              <a:lnSpc>
                <a:spcPct val="125000"/>
              </a:lnSpc>
              <a:buNone/>
            </a:pPr>
            <a:r>
              <a:rPr lang="en-US" sz="1200" b="1" dirty="0">
                <a:solidFill>
                  <a:srgbClr val="14213D"/>
                </a:solidFill>
                <a:latin typeface="Calibri" pitchFamily="34" charset="0"/>
                <a:ea typeface="Calibri" pitchFamily="34" charset="-122"/>
                <a:cs typeface="Calibri" pitchFamily="34" charset="-120"/>
              </a:rPr>
              <a:t>Final label = </a:t>
            </a:r>
            <a:r>
              <a:rPr lang="en-US" sz="1200" b="1" i="1" dirty="0">
                <a:solidFill>
                  <a:srgbClr val="D4A017"/>
                </a:solidFill>
                <a:latin typeface="Calibri" pitchFamily="34" charset="0"/>
                <a:ea typeface="Calibri" pitchFamily="34" charset="-122"/>
                <a:cs typeface="Calibri" pitchFamily="34" charset="-120"/>
              </a:rPr>
              <a:t>individual contribution AND team won</a:t>
            </a:r>
            <a:r>
              <a:rPr lang="en-US" sz="1200" dirty="0">
                <a:solidFill>
                  <a:srgbClr val="4A5568"/>
                </a:solidFill>
                <a:latin typeface="Calibri" pitchFamily="34" charset="0"/>
                <a:ea typeface="Calibri" pitchFamily="34" charset="-122"/>
                <a:cs typeface="Calibri" pitchFamily="34" charset="-120"/>
              </a:rPr>
              <a:t>  —  separates player quality from team luck.</a:t>
            </a:r>
            <a:endParaRPr lang="en-US" sz="1200" dirty="0"/>
          </a:p>
        </p:txBody>
      </p:sp>
      <p:sp>
        <p:nvSpPr>
          <p:cNvPr id="17" name="Shape 13"/>
          <p:cNvSpPr/>
          <p:nvPr/>
        </p:nvSpPr>
        <p:spPr>
          <a:xfrm>
            <a:off x="822960" y="5715000"/>
            <a:ext cx="4800600" cy="658368"/>
          </a:xfrm>
          <a:prstGeom prst="roundRect">
            <a:avLst>
              <a:gd name="adj" fmla="val 6944"/>
            </a:avLst>
          </a:prstGeom>
          <a:solidFill>
            <a:srgbClr val="14213D"/>
          </a:solidFill>
          <a:ln/>
        </p:spPr>
      </p:sp>
      <p:sp>
        <p:nvSpPr>
          <p:cNvPr id="18" name="Text 14"/>
          <p:cNvSpPr/>
          <p:nvPr/>
        </p:nvSpPr>
        <p:spPr>
          <a:xfrm>
            <a:off x="960120" y="5715000"/>
            <a:ext cx="4526280" cy="658368"/>
          </a:xfrm>
          <a:prstGeom prst="rect">
            <a:avLst/>
          </a:prstGeom>
          <a:noFill/>
          <a:ln/>
        </p:spPr>
        <p:txBody>
          <a:bodyPr wrap="square" rtlCol="0" anchor="ctr"/>
          <a:lstStyle/>
          <a:p>
            <a:pPr marL="0" indent="0" algn="ctr">
              <a:buNone/>
            </a:pPr>
            <a:r>
              <a:rPr lang="en-US" sz="1150" b="1" dirty="0">
                <a:solidFill>
                  <a:srgbClr val="F0C766"/>
                </a:solidFill>
                <a:latin typeface="Calibri" pitchFamily="34" charset="0"/>
                <a:ea typeface="Calibri" pitchFamily="34" charset="-122"/>
                <a:cs typeface="Calibri" pitchFamily="34" charset="-120"/>
              </a:rPr>
              <a:t>Positive rate: 21.8% batting  ·  32.1% bowling  —  healthy range for imbalanced classification</a:t>
            </a:r>
            <a:endParaRPr lang="en-US" sz="1150" dirty="0"/>
          </a:p>
        </p:txBody>
      </p:sp>
      <p:sp>
        <p:nvSpPr>
          <p:cNvPr id="19" name="Shape 15"/>
          <p:cNvSpPr/>
          <p:nvPr/>
        </p:nvSpPr>
        <p:spPr>
          <a:xfrm>
            <a:off x="6263640" y="1600200"/>
            <a:ext cx="5349240" cy="4892040"/>
          </a:xfrm>
          <a:prstGeom prst="roundRect">
            <a:avLst>
              <a:gd name="adj" fmla="val 1308"/>
            </a:avLst>
          </a:prstGeom>
          <a:solidFill>
            <a:srgbClr val="FFFFFF"/>
          </a:solidFill>
          <a:ln w="12700">
            <a:solidFill>
              <a:srgbClr val="E8E9ED"/>
            </a:solidFill>
            <a:prstDash val="solid"/>
          </a:ln>
          <a:effectLst>
            <a:outerShdw blurRad="76200" dist="25400" dir="5400000" algn="bl" rotWithShape="0">
              <a:srgbClr val="000000">
                <a:alpha val="10000"/>
              </a:srgbClr>
            </a:outerShdw>
          </a:effectLst>
        </p:spPr>
      </p:sp>
      <p:sp>
        <p:nvSpPr>
          <p:cNvPr id="20" name="Shape 16"/>
          <p:cNvSpPr/>
          <p:nvPr/>
        </p:nvSpPr>
        <p:spPr>
          <a:xfrm>
            <a:off x="6537960" y="1874520"/>
            <a:ext cx="502920" cy="502920"/>
          </a:xfrm>
          <a:prstGeom prst="ellipse">
            <a:avLst/>
          </a:prstGeom>
          <a:solidFill>
            <a:srgbClr val="3D6BA5"/>
          </a:solidFill>
          <a:ln/>
        </p:spPr>
      </p:sp>
      <p:pic>
        <p:nvPicPr>
          <p:cNvPr id="21" name="Image 2" descr="icon_clock.png"/>
          <p:cNvPicPr>
            <a:picLocks noChangeAspect="1"/>
          </p:cNvPicPr>
          <p:nvPr/>
        </p:nvPicPr>
        <p:blipFill>
          <a:blip r:embed="rId3"/>
          <a:stretch>
            <a:fillRect/>
          </a:stretch>
        </p:blipFill>
        <p:spPr>
          <a:xfrm>
            <a:off x="6658661" y="1995221"/>
            <a:ext cx="261518" cy="261518"/>
          </a:xfrm>
          <a:prstGeom prst="rect">
            <a:avLst/>
          </a:prstGeom>
        </p:spPr>
      </p:pic>
      <p:sp>
        <p:nvSpPr>
          <p:cNvPr id="22" name="Text 17"/>
          <p:cNvSpPr/>
          <p:nvPr/>
        </p:nvSpPr>
        <p:spPr>
          <a:xfrm>
            <a:off x="7178040" y="1892808"/>
            <a:ext cx="4160520" cy="457200"/>
          </a:xfrm>
          <a:prstGeom prst="rect">
            <a:avLst/>
          </a:prstGeom>
          <a:noFill/>
          <a:ln/>
        </p:spPr>
        <p:txBody>
          <a:bodyPr wrap="square" rtlCol="0" anchor="ctr"/>
          <a:lstStyle/>
          <a:p>
            <a:pPr marL="0" indent="0">
              <a:buNone/>
            </a:pPr>
            <a:r>
              <a:rPr lang="en-US" sz="1700" b="1" dirty="0">
                <a:solidFill>
                  <a:srgbClr val="14213D"/>
                </a:solidFill>
                <a:latin typeface="Calibri" pitchFamily="34" charset="0"/>
                <a:ea typeface="Calibri" pitchFamily="34" charset="-122"/>
                <a:cs typeface="Calibri" pitchFamily="34" charset="-120"/>
              </a:rPr>
              <a:t>2. Time-Series Validation</a:t>
            </a:r>
            <a:endParaRPr lang="en-US" sz="1700" dirty="0"/>
          </a:p>
        </p:txBody>
      </p:sp>
      <p:sp>
        <p:nvSpPr>
          <p:cNvPr id="23" name="Text 18"/>
          <p:cNvSpPr/>
          <p:nvPr/>
        </p:nvSpPr>
        <p:spPr>
          <a:xfrm>
            <a:off x="6537960" y="2514600"/>
            <a:ext cx="4800600" cy="914400"/>
          </a:xfrm>
          <a:prstGeom prst="rect">
            <a:avLst/>
          </a:prstGeom>
          <a:noFill/>
          <a:ln/>
        </p:spPr>
        <p:txBody>
          <a:bodyPr wrap="square" rtlCol="0" anchor="ctr"/>
          <a:lstStyle/>
          <a:p>
            <a:pPr marL="0" indent="0">
              <a:lnSpc>
                <a:spcPct val="125000"/>
              </a:lnSpc>
              <a:buNone/>
            </a:pPr>
            <a:r>
              <a:rPr lang="en-US" sz="1250" b="1" dirty="0">
                <a:solidFill>
                  <a:srgbClr val="C0392B"/>
                </a:solidFill>
                <a:latin typeface="Calibri" pitchFamily="34" charset="0"/>
                <a:ea typeface="Calibri" pitchFamily="34" charset="-122"/>
                <a:cs typeface="Calibri" pitchFamily="34" charset="-120"/>
              </a:rPr>
              <a:t>The problem: </a:t>
            </a:r>
            <a:r>
              <a:rPr lang="en-US" sz="1250" dirty="0">
                <a:solidFill>
                  <a:srgbClr val="4A5568"/>
                </a:solidFill>
                <a:latin typeface="Calibri" pitchFamily="34" charset="0"/>
                <a:ea typeface="Calibri" pitchFamily="34" charset="-122"/>
                <a:cs typeface="Calibri" pitchFamily="34" charset="-120"/>
              </a:rPr>
              <a:t>Random train/test splits on cricket data leak future information — a model trained on 2024 and tested on 2019 has effectively seen the future.</a:t>
            </a:r>
            <a:endParaRPr lang="en-US" sz="1250" dirty="0"/>
          </a:p>
        </p:txBody>
      </p:sp>
      <p:sp>
        <p:nvSpPr>
          <p:cNvPr id="24" name="Text 19"/>
          <p:cNvSpPr/>
          <p:nvPr/>
        </p:nvSpPr>
        <p:spPr>
          <a:xfrm>
            <a:off x="6629400" y="3657600"/>
            <a:ext cx="3232404" cy="274320"/>
          </a:xfrm>
          <a:prstGeom prst="rect">
            <a:avLst/>
          </a:prstGeom>
          <a:noFill/>
          <a:ln/>
        </p:spPr>
        <p:txBody>
          <a:bodyPr wrap="square" rtlCol="0" anchor="ctr"/>
          <a:lstStyle/>
          <a:p>
            <a:pPr marL="0" indent="0" algn="l">
              <a:buNone/>
            </a:pPr>
            <a:r>
              <a:rPr lang="en-US" sz="1100" b="1" dirty="0">
                <a:solidFill>
                  <a:srgbClr val="14213D"/>
                </a:solidFill>
                <a:latin typeface="Calibri" pitchFamily="34" charset="0"/>
                <a:ea typeface="Calibri" pitchFamily="34" charset="-122"/>
                <a:cs typeface="Calibri" pitchFamily="34" charset="-120"/>
              </a:rPr>
              <a:t>TRAIN — 8 seasons</a:t>
            </a:r>
            <a:endParaRPr lang="en-US" sz="1100" dirty="0"/>
          </a:p>
        </p:txBody>
      </p:sp>
      <p:sp>
        <p:nvSpPr>
          <p:cNvPr id="25" name="Text 20"/>
          <p:cNvSpPr/>
          <p:nvPr/>
        </p:nvSpPr>
        <p:spPr>
          <a:xfrm>
            <a:off x="9861804" y="3657600"/>
            <a:ext cx="1385316" cy="274320"/>
          </a:xfrm>
          <a:prstGeom prst="rect">
            <a:avLst/>
          </a:prstGeom>
          <a:noFill/>
          <a:ln/>
        </p:spPr>
        <p:txBody>
          <a:bodyPr wrap="square" rtlCol="0" anchor="ctr"/>
          <a:lstStyle/>
          <a:p>
            <a:pPr marL="0" indent="0" algn="l">
              <a:buNone/>
            </a:pPr>
            <a:r>
              <a:rPr lang="en-US" sz="1100" b="1" dirty="0">
                <a:solidFill>
                  <a:srgbClr val="B8860B"/>
                </a:solidFill>
                <a:latin typeface="Calibri" pitchFamily="34" charset="0"/>
                <a:ea typeface="Calibri" pitchFamily="34" charset="-122"/>
                <a:cs typeface="Calibri" pitchFamily="34" charset="-120"/>
              </a:rPr>
              <a:t>TEST</a:t>
            </a:r>
            <a:endParaRPr lang="en-US" sz="1100" dirty="0"/>
          </a:p>
        </p:txBody>
      </p:sp>
      <p:sp>
        <p:nvSpPr>
          <p:cNvPr id="26" name="Shape 21"/>
          <p:cNvSpPr/>
          <p:nvPr/>
        </p:nvSpPr>
        <p:spPr>
          <a:xfrm>
            <a:off x="6629400" y="4005072"/>
            <a:ext cx="4617720" cy="128016"/>
          </a:xfrm>
          <a:prstGeom prst="rect">
            <a:avLst/>
          </a:prstGeom>
          <a:solidFill>
            <a:srgbClr val="E8E9ED"/>
          </a:solidFill>
          <a:ln/>
        </p:spPr>
      </p:sp>
      <p:sp>
        <p:nvSpPr>
          <p:cNvPr id="27" name="Shape 22"/>
          <p:cNvSpPr/>
          <p:nvPr/>
        </p:nvSpPr>
        <p:spPr>
          <a:xfrm>
            <a:off x="6629400" y="4005072"/>
            <a:ext cx="3232404" cy="128016"/>
          </a:xfrm>
          <a:prstGeom prst="rect">
            <a:avLst/>
          </a:prstGeom>
          <a:solidFill>
            <a:srgbClr val="14213D"/>
          </a:solidFill>
          <a:ln/>
        </p:spPr>
      </p:sp>
      <p:sp>
        <p:nvSpPr>
          <p:cNvPr id="28" name="Shape 23"/>
          <p:cNvSpPr/>
          <p:nvPr/>
        </p:nvSpPr>
        <p:spPr>
          <a:xfrm>
            <a:off x="9861804" y="4005072"/>
            <a:ext cx="1385316" cy="128016"/>
          </a:xfrm>
          <a:prstGeom prst="rect">
            <a:avLst/>
          </a:prstGeom>
          <a:solidFill>
            <a:srgbClr val="D4A017"/>
          </a:solidFill>
          <a:ln/>
        </p:spPr>
      </p:sp>
      <p:sp>
        <p:nvSpPr>
          <p:cNvPr id="29" name="Text 24"/>
          <p:cNvSpPr/>
          <p:nvPr/>
        </p:nvSpPr>
        <p:spPr>
          <a:xfrm>
            <a:off x="6492240" y="4206240"/>
            <a:ext cx="640080" cy="274320"/>
          </a:xfrm>
          <a:prstGeom prst="rect">
            <a:avLst/>
          </a:prstGeom>
          <a:noFill/>
          <a:ln/>
        </p:spPr>
        <p:txBody>
          <a:bodyPr wrap="square" rtlCol="0" anchor="ctr"/>
          <a:lstStyle/>
          <a:p>
            <a:pPr marL="0" indent="0">
              <a:buNone/>
            </a:pPr>
            <a:r>
              <a:rPr lang="en-US" sz="1000" dirty="0">
                <a:solidFill>
                  <a:srgbClr val="4A5568"/>
                </a:solidFill>
                <a:latin typeface="Calibri" pitchFamily="34" charset="0"/>
                <a:ea typeface="Calibri" pitchFamily="34" charset="-122"/>
                <a:cs typeface="Calibri" pitchFamily="34" charset="-120"/>
              </a:rPr>
              <a:t>2016</a:t>
            </a:r>
            <a:endParaRPr lang="en-US" sz="1000" dirty="0"/>
          </a:p>
        </p:txBody>
      </p:sp>
      <p:sp>
        <p:nvSpPr>
          <p:cNvPr id="30" name="Text 25"/>
          <p:cNvSpPr/>
          <p:nvPr/>
        </p:nvSpPr>
        <p:spPr>
          <a:xfrm>
            <a:off x="9541764" y="4206240"/>
            <a:ext cx="640080" cy="274320"/>
          </a:xfrm>
          <a:prstGeom prst="rect">
            <a:avLst/>
          </a:prstGeom>
          <a:noFill/>
          <a:ln/>
        </p:spPr>
        <p:txBody>
          <a:bodyPr wrap="square" rtlCol="0" anchor="ctr"/>
          <a:lstStyle/>
          <a:p>
            <a:pPr marL="0" indent="0" algn="ctr">
              <a:buNone/>
            </a:pPr>
            <a:r>
              <a:rPr lang="en-US" sz="1000" dirty="0">
                <a:solidFill>
                  <a:srgbClr val="4A5568"/>
                </a:solidFill>
                <a:latin typeface="Calibri" pitchFamily="34" charset="0"/>
                <a:ea typeface="Calibri" pitchFamily="34" charset="-122"/>
                <a:cs typeface="Calibri" pitchFamily="34" charset="-120"/>
              </a:rPr>
              <a:t>2023</a:t>
            </a:r>
            <a:endParaRPr lang="en-US" sz="1000" dirty="0"/>
          </a:p>
        </p:txBody>
      </p:sp>
      <p:sp>
        <p:nvSpPr>
          <p:cNvPr id="31" name="Text 26"/>
          <p:cNvSpPr/>
          <p:nvPr/>
        </p:nvSpPr>
        <p:spPr>
          <a:xfrm>
            <a:off x="10744200" y="4206240"/>
            <a:ext cx="640080" cy="274320"/>
          </a:xfrm>
          <a:prstGeom prst="rect">
            <a:avLst/>
          </a:prstGeom>
          <a:noFill/>
          <a:ln/>
        </p:spPr>
        <p:txBody>
          <a:bodyPr wrap="square" rtlCol="0" anchor="ctr"/>
          <a:lstStyle/>
          <a:p>
            <a:pPr marL="0" indent="0" algn="r">
              <a:buNone/>
            </a:pPr>
            <a:r>
              <a:rPr lang="en-US" sz="1000" dirty="0">
                <a:solidFill>
                  <a:srgbClr val="4A5568"/>
                </a:solidFill>
                <a:latin typeface="Calibri" pitchFamily="34" charset="0"/>
                <a:ea typeface="Calibri" pitchFamily="34" charset="-122"/>
                <a:cs typeface="Calibri" pitchFamily="34" charset="-120"/>
              </a:rPr>
              <a:t>2025</a:t>
            </a:r>
            <a:endParaRPr lang="en-US" sz="1000" dirty="0"/>
          </a:p>
        </p:txBody>
      </p:sp>
      <p:sp>
        <p:nvSpPr>
          <p:cNvPr id="32" name="Text 27"/>
          <p:cNvSpPr/>
          <p:nvPr/>
        </p:nvSpPr>
        <p:spPr>
          <a:xfrm>
            <a:off x="6537960" y="4617720"/>
            <a:ext cx="4800600" cy="640080"/>
          </a:xfrm>
          <a:prstGeom prst="rect">
            <a:avLst/>
          </a:prstGeom>
          <a:noFill/>
          <a:ln/>
        </p:spPr>
        <p:txBody>
          <a:bodyPr wrap="square" rtlCol="0" anchor="ctr"/>
          <a:lstStyle/>
          <a:p>
            <a:pPr marL="0" indent="0">
              <a:lnSpc>
                <a:spcPct val="125000"/>
              </a:lnSpc>
              <a:buNone/>
            </a:pPr>
            <a:r>
              <a:rPr lang="en-US" sz="1200" dirty="0">
                <a:solidFill>
                  <a:srgbClr val="4A5568"/>
                </a:solidFill>
                <a:latin typeface="Calibri" pitchFamily="34" charset="0"/>
                <a:ea typeface="Calibri" pitchFamily="34" charset="-122"/>
                <a:cs typeface="Calibri" pitchFamily="34" charset="-120"/>
              </a:rPr>
              <a:t>Test data (2024–2025) is </a:t>
            </a:r>
            <a:r>
              <a:rPr lang="en-US" sz="1200" b="1" dirty="0">
                <a:solidFill>
                  <a:srgbClr val="D4A017"/>
                </a:solidFill>
                <a:latin typeface="Calibri" pitchFamily="34" charset="0"/>
                <a:ea typeface="Calibri" pitchFamily="34" charset="-122"/>
                <a:cs typeface="Calibri" pitchFamily="34" charset="-120"/>
              </a:rPr>
              <a:t>never touched during training</a:t>
            </a:r>
            <a:r>
              <a:rPr lang="en-US" sz="1200" dirty="0">
                <a:solidFill>
                  <a:srgbClr val="4A5568"/>
                </a:solidFill>
                <a:latin typeface="Calibri" pitchFamily="34" charset="0"/>
                <a:ea typeface="Calibri" pitchFamily="34" charset="-122"/>
                <a:cs typeface="Calibri" pitchFamily="34" charset="-120"/>
              </a:rPr>
              <a:t>. This mirrors real deployment: train on the past, predict the future.</a:t>
            </a:r>
            <a:endParaRPr lang="en-US" sz="1200" dirty="0"/>
          </a:p>
        </p:txBody>
      </p:sp>
      <p:sp>
        <p:nvSpPr>
          <p:cNvPr id="33" name="Text 28"/>
          <p:cNvSpPr/>
          <p:nvPr/>
        </p:nvSpPr>
        <p:spPr>
          <a:xfrm>
            <a:off x="6537960" y="5349240"/>
            <a:ext cx="4800600" cy="731520"/>
          </a:xfrm>
          <a:prstGeom prst="rect">
            <a:avLst/>
          </a:prstGeom>
          <a:noFill/>
          <a:ln/>
        </p:spPr>
        <p:txBody>
          <a:bodyPr wrap="square" rtlCol="0" anchor="ctr"/>
          <a:lstStyle/>
          <a:p>
            <a:pPr marL="0" indent="0">
              <a:lnSpc>
                <a:spcPct val="125000"/>
              </a:lnSpc>
              <a:buNone/>
            </a:pPr>
            <a:r>
              <a:rPr lang="en-US" sz="1200" i="1" dirty="0">
                <a:solidFill>
                  <a:srgbClr val="4A5568"/>
                </a:solidFill>
                <a:latin typeface="Calibri" pitchFamily="34" charset="0"/>
                <a:ea typeface="Calibri" pitchFamily="34" charset="-122"/>
                <a:cs typeface="Calibri" pitchFamily="34" charset="-120"/>
              </a:rPr>
              <a:t>Every feature also uses shift(1) before rolling/expanding computation — the current match's performance never leaks into its own feature.</a:t>
            </a:r>
            <a:endParaRPr lang="en-US" sz="1200" dirty="0"/>
          </a:p>
        </p:txBody>
      </p:sp>
      <p:sp>
        <p:nvSpPr>
          <p:cNvPr id="34" name="Shape 29"/>
          <p:cNvSpPr/>
          <p:nvPr/>
        </p:nvSpPr>
        <p:spPr>
          <a:xfrm>
            <a:off x="6537960" y="5715000"/>
            <a:ext cx="4800600" cy="658368"/>
          </a:xfrm>
          <a:prstGeom prst="roundRect">
            <a:avLst>
              <a:gd name="adj" fmla="val 6944"/>
            </a:avLst>
          </a:prstGeom>
          <a:solidFill>
            <a:srgbClr val="14213D"/>
          </a:solidFill>
          <a:ln/>
        </p:spPr>
      </p:sp>
      <p:sp>
        <p:nvSpPr>
          <p:cNvPr id="35" name="Text 30"/>
          <p:cNvSpPr/>
          <p:nvPr/>
        </p:nvSpPr>
        <p:spPr>
          <a:xfrm>
            <a:off x="6675120" y="5715000"/>
            <a:ext cx="4526280" cy="658368"/>
          </a:xfrm>
          <a:prstGeom prst="rect">
            <a:avLst/>
          </a:prstGeom>
          <a:noFill/>
          <a:ln/>
        </p:spPr>
        <p:txBody>
          <a:bodyPr wrap="square" rtlCol="0" anchor="ctr"/>
          <a:lstStyle/>
          <a:p>
            <a:pPr marL="0" indent="0" algn="ctr">
              <a:buNone/>
            </a:pPr>
            <a:r>
              <a:rPr lang="en-US" sz="1150" b="1" dirty="0">
                <a:solidFill>
                  <a:srgbClr val="F0C766"/>
                </a:solidFill>
                <a:latin typeface="Calibri" pitchFamily="34" charset="0"/>
                <a:ea typeface="Calibri" pitchFamily="34" charset="-122"/>
                <a:cs typeface="Calibri" pitchFamily="34" charset="-120"/>
              </a:rPr>
              <a:t>Result: Batting AUC 0.8595   ·   Bowling AUC 0.8808  (on unseen 2024–25 data)</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5"/>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4213D"/>
          </a:solidFill>
          <a:ln/>
        </p:spPr>
      </p:sp>
      <p:pic>
        <p:nvPicPr>
          <p:cNvPr id="3" name="Image 0" descr="icon_trending.png"/>
          <p:cNvPicPr>
            <a:picLocks noChangeAspect="1"/>
          </p:cNvPicPr>
          <p:nvPr/>
        </p:nvPicPr>
        <p:blipFill>
          <a:blip r:embed="rId3"/>
          <a:stretch>
            <a:fillRect/>
          </a:stretch>
        </p:blipFill>
        <p:spPr>
          <a:xfrm>
            <a:off x="669341" y="577901"/>
            <a:ext cx="261518" cy="261518"/>
          </a:xfrm>
          <a:prstGeom prst="rect">
            <a:avLst/>
          </a:prstGeom>
        </p:spPr>
      </p:pic>
      <p:sp>
        <p:nvSpPr>
          <p:cNvPr id="4" name="Text 1"/>
          <p:cNvSpPr/>
          <p:nvPr/>
        </p:nvSpPr>
        <p:spPr>
          <a:xfrm>
            <a:off x="1234440" y="438912"/>
            <a:ext cx="7315200" cy="548640"/>
          </a:xfrm>
          <a:prstGeom prst="rect">
            <a:avLst/>
          </a:prstGeom>
          <a:noFill/>
          <a:ln/>
        </p:spPr>
        <p:txBody>
          <a:bodyPr wrap="square"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Key Findings</a:t>
            </a:r>
            <a:endParaRPr lang="en-US" sz="2800" dirty="0"/>
          </a:p>
        </p:txBody>
      </p:sp>
      <p:sp>
        <p:nvSpPr>
          <p:cNvPr id="5" name="Text 2"/>
          <p:cNvSpPr/>
          <p:nvPr/>
        </p:nvSpPr>
        <p:spPr>
          <a:xfrm>
            <a:off x="1234440" y="960120"/>
            <a:ext cx="9601200" cy="320040"/>
          </a:xfrm>
          <a:prstGeom prst="rect">
            <a:avLst/>
          </a:prstGeom>
          <a:noFill/>
          <a:ln/>
        </p:spPr>
        <p:txBody>
          <a:bodyPr wrap="square"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Model performance, the biggest surprise, and the setbacks that shaped the final system</a:t>
            </a:r>
            <a:endParaRPr lang="en-US" sz="1300" dirty="0"/>
          </a:p>
        </p:txBody>
      </p:sp>
      <p:sp>
        <p:nvSpPr>
          <p:cNvPr id="6" name="Shape 3"/>
          <p:cNvSpPr/>
          <p:nvPr/>
        </p:nvSpPr>
        <p:spPr>
          <a:xfrm>
            <a:off x="548640" y="1554480"/>
            <a:ext cx="3520440" cy="1371600"/>
          </a:xfrm>
          <a:prstGeom prst="roundRect">
            <a:avLst>
              <a:gd name="adj" fmla="val 4667"/>
            </a:avLst>
          </a:prstGeom>
          <a:solidFill>
            <a:srgbClr val="14213D"/>
          </a:solidFill>
          <a:ln/>
        </p:spPr>
      </p:sp>
      <p:sp>
        <p:nvSpPr>
          <p:cNvPr id="7" name="Text 4"/>
          <p:cNvSpPr/>
          <p:nvPr/>
        </p:nvSpPr>
        <p:spPr>
          <a:xfrm>
            <a:off x="548640" y="1664208"/>
            <a:ext cx="3520440" cy="777240"/>
          </a:xfrm>
          <a:prstGeom prst="rect">
            <a:avLst/>
          </a:prstGeom>
          <a:noFill/>
          <a:ln/>
        </p:spPr>
        <p:txBody>
          <a:bodyPr wrap="square"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0.86</a:t>
            </a:r>
            <a:endParaRPr lang="en-US" sz="4400" dirty="0"/>
          </a:p>
        </p:txBody>
      </p:sp>
      <p:sp>
        <p:nvSpPr>
          <p:cNvPr id="8" name="Text 5"/>
          <p:cNvSpPr/>
          <p:nvPr/>
        </p:nvSpPr>
        <p:spPr>
          <a:xfrm>
            <a:off x="548640" y="2468880"/>
            <a:ext cx="3520440" cy="411480"/>
          </a:xfrm>
          <a:prstGeom prst="rect">
            <a:avLst/>
          </a:prstGeom>
          <a:noFill/>
          <a:ln/>
        </p:spPr>
        <p:txBody>
          <a:bodyPr wrap="square" rtlCol="0" anchor="ctr"/>
          <a:lstStyle/>
          <a:p>
            <a:pPr marL="0" indent="0" algn="ctr">
              <a:lnSpc>
                <a:spcPct val="105000"/>
              </a:lnSpc>
              <a:buNone/>
            </a:pPr>
            <a:r>
              <a:rPr lang="en-US" sz="1200" b="1" dirty="0">
                <a:solidFill>
                  <a:srgbClr val="F0C766"/>
                </a:solidFill>
                <a:latin typeface="Calibri" pitchFamily="34" charset="0"/>
                <a:ea typeface="Calibri" pitchFamily="34" charset="-122"/>
                <a:cs typeface="Calibri" pitchFamily="34" charset="-120"/>
              </a:rPr>
              <a:t>Batting Model</a:t>
            </a:r>
            <a:endParaRPr lang="en-US" sz="1200" dirty="0"/>
          </a:p>
          <a:p>
            <a:pPr marL="0" indent="0" algn="ctr">
              <a:lnSpc>
                <a:spcPct val="105000"/>
              </a:lnSpc>
              <a:buNone/>
            </a:pPr>
            <a:r>
              <a:rPr lang="en-US" sz="1200" b="1" dirty="0">
                <a:solidFill>
                  <a:srgbClr val="F0C766"/>
                </a:solidFill>
                <a:latin typeface="Calibri" pitchFamily="34" charset="0"/>
                <a:ea typeface="Calibri" pitchFamily="34" charset="-122"/>
                <a:cs typeface="Calibri" pitchFamily="34" charset="-120"/>
              </a:rPr>
              <a:t>ROC-AUC</a:t>
            </a:r>
            <a:endParaRPr lang="en-US" sz="1200" dirty="0"/>
          </a:p>
        </p:txBody>
      </p:sp>
      <p:sp>
        <p:nvSpPr>
          <p:cNvPr id="9" name="Shape 6"/>
          <p:cNvSpPr/>
          <p:nvPr/>
        </p:nvSpPr>
        <p:spPr>
          <a:xfrm>
            <a:off x="4343400" y="1554480"/>
            <a:ext cx="3520440" cy="1371600"/>
          </a:xfrm>
          <a:prstGeom prst="roundRect">
            <a:avLst>
              <a:gd name="adj" fmla="val 4667"/>
            </a:avLst>
          </a:prstGeom>
          <a:solidFill>
            <a:srgbClr val="2B4C7E"/>
          </a:solidFill>
          <a:ln/>
        </p:spPr>
      </p:sp>
      <p:sp>
        <p:nvSpPr>
          <p:cNvPr id="10" name="Text 7"/>
          <p:cNvSpPr/>
          <p:nvPr/>
        </p:nvSpPr>
        <p:spPr>
          <a:xfrm>
            <a:off x="4343400" y="1664208"/>
            <a:ext cx="3520440" cy="777240"/>
          </a:xfrm>
          <a:prstGeom prst="rect">
            <a:avLst/>
          </a:prstGeom>
          <a:noFill/>
          <a:ln/>
        </p:spPr>
        <p:txBody>
          <a:bodyPr wrap="square"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0.88</a:t>
            </a:r>
            <a:endParaRPr lang="en-US" sz="4400" dirty="0"/>
          </a:p>
        </p:txBody>
      </p:sp>
      <p:sp>
        <p:nvSpPr>
          <p:cNvPr id="11" name="Text 8"/>
          <p:cNvSpPr/>
          <p:nvPr/>
        </p:nvSpPr>
        <p:spPr>
          <a:xfrm>
            <a:off x="4343400" y="2468880"/>
            <a:ext cx="3520440" cy="411480"/>
          </a:xfrm>
          <a:prstGeom prst="rect">
            <a:avLst/>
          </a:prstGeom>
          <a:noFill/>
          <a:ln/>
        </p:spPr>
        <p:txBody>
          <a:bodyPr wrap="square" rtlCol="0" anchor="ctr"/>
          <a:lstStyle/>
          <a:p>
            <a:pPr marL="0" indent="0" algn="ctr">
              <a:lnSpc>
                <a:spcPct val="105000"/>
              </a:lnSpc>
              <a:buNone/>
            </a:pPr>
            <a:r>
              <a:rPr lang="en-US" sz="1200" b="1" dirty="0">
                <a:solidFill>
                  <a:srgbClr val="F0C766"/>
                </a:solidFill>
                <a:latin typeface="Calibri" pitchFamily="34" charset="0"/>
                <a:ea typeface="Calibri" pitchFamily="34" charset="-122"/>
                <a:cs typeface="Calibri" pitchFamily="34" charset="-120"/>
              </a:rPr>
              <a:t>Bowling Model</a:t>
            </a:r>
            <a:endParaRPr lang="en-US" sz="1200" dirty="0"/>
          </a:p>
          <a:p>
            <a:pPr marL="0" indent="0" algn="ctr">
              <a:lnSpc>
                <a:spcPct val="105000"/>
              </a:lnSpc>
              <a:buNone/>
            </a:pPr>
            <a:r>
              <a:rPr lang="en-US" sz="1200" b="1" dirty="0">
                <a:solidFill>
                  <a:srgbClr val="F0C766"/>
                </a:solidFill>
                <a:latin typeface="Calibri" pitchFamily="34" charset="0"/>
                <a:ea typeface="Calibri" pitchFamily="34" charset="-122"/>
                <a:cs typeface="Calibri" pitchFamily="34" charset="-120"/>
              </a:rPr>
              <a:t>ROC-AUC</a:t>
            </a:r>
            <a:endParaRPr lang="en-US" sz="1200" dirty="0"/>
          </a:p>
        </p:txBody>
      </p:sp>
      <p:sp>
        <p:nvSpPr>
          <p:cNvPr id="12" name="Shape 9"/>
          <p:cNvSpPr/>
          <p:nvPr/>
        </p:nvSpPr>
        <p:spPr>
          <a:xfrm>
            <a:off x="8138160" y="1554480"/>
            <a:ext cx="3520440" cy="1371600"/>
          </a:xfrm>
          <a:prstGeom prst="roundRect">
            <a:avLst>
              <a:gd name="adj" fmla="val 4667"/>
            </a:avLst>
          </a:prstGeom>
          <a:solidFill>
            <a:srgbClr val="D4A017"/>
          </a:solidFill>
          <a:ln/>
        </p:spPr>
      </p:sp>
      <p:sp>
        <p:nvSpPr>
          <p:cNvPr id="13" name="Text 10"/>
          <p:cNvSpPr/>
          <p:nvPr/>
        </p:nvSpPr>
        <p:spPr>
          <a:xfrm>
            <a:off x="8138160" y="1664208"/>
            <a:ext cx="3520440" cy="777240"/>
          </a:xfrm>
          <a:prstGeom prst="rect">
            <a:avLst/>
          </a:prstGeom>
          <a:noFill/>
          <a:ln/>
        </p:spPr>
        <p:txBody>
          <a:bodyPr wrap="square"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288K</a:t>
            </a:r>
            <a:endParaRPr lang="en-US" sz="4400" dirty="0"/>
          </a:p>
        </p:txBody>
      </p:sp>
      <p:sp>
        <p:nvSpPr>
          <p:cNvPr id="14" name="Text 11"/>
          <p:cNvSpPr/>
          <p:nvPr/>
        </p:nvSpPr>
        <p:spPr>
          <a:xfrm>
            <a:off x="8138160" y="2468880"/>
            <a:ext cx="3520440" cy="411480"/>
          </a:xfrm>
          <a:prstGeom prst="rect">
            <a:avLst/>
          </a:prstGeom>
          <a:noFill/>
          <a:ln/>
        </p:spPr>
        <p:txBody>
          <a:bodyPr wrap="square" rtlCol="0" anchor="ctr"/>
          <a:lstStyle/>
          <a:p>
            <a:pPr marL="0" indent="0" algn="ctr">
              <a:lnSpc>
                <a:spcPct val="105000"/>
              </a:lnSpc>
              <a:buNone/>
            </a:pPr>
            <a:r>
              <a:rPr lang="en-US" sz="1200" b="1" dirty="0">
                <a:solidFill>
                  <a:srgbClr val="14213D"/>
                </a:solidFill>
                <a:latin typeface="Calibri" pitchFamily="34" charset="0"/>
                <a:ea typeface="Calibri" pitchFamily="34" charset="-122"/>
                <a:cs typeface="Calibri" pitchFamily="34" charset="-120"/>
              </a:rPr>
              <a:t>Ball-by-Ball</a:t>
            </a:r>
            <a:endParaRPr lang="en-US" sz="1200" dirty="0"/>
          </a:p>
          <a:p>
            <a:pPr marL="0" indent="0" algn="ctr">
              <a:lnSpc>
                <a:spcPct val="105000"/>
              </a:lnSpc>
              <a:buNone/>
            </a:pPr>
            <a:r>
              <a:rPr lang="en-US" sz="1200" b="1" dirty="0">
                <a:solidFill>
                  <a:srgbClr val="14213D"/>
                </a:solidFill>
                <a:latin typeface="Calibri" pitchFamily="34" charset="0"/>
                <a:ea typeface="Calibri" pitchFamily="34" charset="-122"/>
                <a:cs typeface="Calibri" pitchFamily="34" charset="-120"/>
              </a:rPr>
              <a:t>Deliveries Used</a:t>
            </a:r>
            <a:endParaRPr lang="en-US" sz="1200" dirty="0"/>
          </a:p>
        </p:txBody>
      </p:sp>
      <p:sp>
        <p:nvSpPr>
          <p:cNvPr id="15" name="Shape 12"/>
          <p:cNvSpPr/>
          <p:nvPr/>
        </p:nvSpPr>
        <p:spPr>
          <a:xfrm>
            <a:off x="548640" y="3108960"/>
            <a:ext cx="11064240" cy="1051560"/>
          </a:xfrm>
          <a:prstGeom prst="roundRect">
            <a:avLst>
              <a:gd name="adj" fmla="val 6087"/>
            </a:avLst>
          </a:prstGeom>
          <a:solidFill>
            <a:srgbClr val="FFFFFF"/>
          </a:solidFill>
          <a:ln w="19050">
            <a:solidFill>
              <a:srgbClr val="D4A017"/>
            </a:solidFill>
            <a:prstDash val="solid"/>
          </a:ln>
        </p:spPr>
      </p:sp>
      <p:sp>
        <p:nvSpPr>
          <p:cNvPr id="16" name="Shape 13"/>
          <p:cNvSpPr/>
          <p:nvPr/>
        </p:nvSpPr>
        <p:spPr>
          <a:xfrm>
            <a:off x="777240" y="3310128"/>
            <a:ext cx="502920" cy="502920"/>
          </a:xfrm>
          <a:prstGeom prst="ellipse">
            <a:avLst/>
          </a:prstGeom>
          <a:solidFill>
            <a:srgbClr val="D4A017"/>
          </a:solidFill>
          <a:ln/>
        </p:spPr>
      </p:sp>
      <p:pic>
        <p:nvPicPr>
          <p:cNvPr id="17" name="Image 1" descr="icon_eye.png"/>
          <p:cNvPicPr>
            <a:picLocks noChangeAspect="1"/>
          </p:cNvPicPr>
          <p:nvPr/>
        </p:nvPicPr>
        <p:blipFill>
          <a:blip r:embed="rId4"/>
          <a:stretch>
            <a:fillRect/>
          </a:stretch>
        </p:blipFill>
        <p:spPr>
          <a:xfrm>
            <a:off x="897941" y="3430829"/>
            <a:ext cx="261518" cy="261518"/>
          </a:xfrm>
          <a:prstGeom prst="rect">
            <a:avLst/>
          </a:prstGeom>
        </p:spPr>
      </p:pic>
      <p:sp>
        <p:nvSpPr>
          <p:cNvPr id="18" name="Text 14"/>
          <p:cNvSpPr/>
          <p:nvPr/>
        </p:nvSpPr>
        <p:spPr>
          <a:xfrm>
            <a:off x="1508760" y="3200400"/>
            <a:ext cx="9966960" cy="868680"/>
          </a:xfrm>
          <a:prstGeom prst="rect">
            <a:avLst/>
          </a:prstGeom>
          <a:noFill/>
          <a:ln/>
        </p:spPr>
        <p:txBody>
          <a:bodyPr wrap="square" rtlCol="0" anchor="t"/>
          <a:lstStyle/>
          <a:p>
            <a:pPr marL="0" indent="0">
              <a:lnSpc>
                <a:spcPct val="120000"/>
              </a:lnSpc>
              <a:buNone/>
            </a:pPr>
            <a:r>
              <a:rPr lang="en-US" sz="1250" b="1" dirty="0">
                <a:solidFill>
                  <a:srgbClr val="D4A017"/>
                </a:solidFill>
                <a:latin typeface="Calibri" pitchFamily="34" charset="0"/>
                <a:ea typeface="Calibri" pitchFamily="34" charset="-122"/>
                <a:cs typeface="Calibri" pitchFamily="34" charset="-120"/>
              </a:rPr>
              <a:t>MOST SURPRISING FINDING (SHAP ANALYSIS):  </a:t>
            </a:r>
            <a:endParaRPr lang="en-US" sz="1250" dirty="0"/>
          </a:p>
          <a:p>
            <a:pPr marL="0" indent="0">
              <a:lnSpc>
                <a:spcPct val="120000"/>
              </a:lnSpc>
              <a:buNone/>
            </a:pPr>
            <a:r>
              <a:rPr lang="en-US" sz="1250" dirty="0">
                <a:solidFill>
                  <a:srgbClr val="14213D"/>
                </a:solidFill>
                <a:latin typeface="Calibri" pitchFamily="34" charset="0"/>
                <a:ea typeface="Calibri" pitchFamily="34" charset="-122"/>
                <a:cs typeface="Calibri" pitchFamily="34" charset="-120"/>
              </a:rPr>
              <a:t>Phase-wise strike rate (Powerplay / Middle / Death) dominated feature importance — ranking above recent form and career averages. </a:t>
            </a:r>
            <a:r>
              <a:rPr lang="en-US" sz="1250" i="1" dirty="0">
                <a:solidFill>
                  <a:srgbClr val="4A5568"/>
                </a:solidFill>
                <a:latin typeface="Calibri" pitchFamily="34" charset="0"/>
                <a:ea typeface="Calibri" pitchFamily="34" charset="-122"/>
                <a:cs typeface="Calibri" pitchFamily="34" charset="-120"/>
              </a:rPr>
              <a:t>How fast a player scores in the middle overs predicts win contribution better than how much they score overall.</a:t>
            </a:r>
            <a:endParaRPr lang="en-US" sz="1250" dirty="0"/>
          </a:p>
        </p:txBody>
      </p:sp>
      <p:sp>
        <p:nvSpPr>
          <p:cNvPr id="19" name="Text 15"/>
          <p:cNvSpPr/>
          <p:nvPr/>
        </p:nvSpPr>
        <p:spPr>
          <a:xfrm>
            <a:off x="548640" y="4343400"/>
            <a:ext cx="10972800" cy="292608"/>
          </a:xfrm>
          <a:prstGeom prst="rect">
            <a:avLst/>
          </a:prstGeom>
          <a:noFill/>
          <a:ln/>
        </p:spPr>
        <p:txBody>
          <a:bodyPr wrap="square" rtlCol="0" anchor="ctr"/>
          <a:lstStyle/>
          <a:p>
            <a:pPr marL="0" indent="0">
              <a:buNone/>
            </a:pPr>
            <a:r>
              <a:rPr lang="en-US" sz="1200" b="1" kern="0" spc="50" dirty="0">
                <a:solidFill>
                  <a:srgbClr val="14213D"/>
                </a:solidFill>
                <a:latin typeface="Calibri" pitchFamily="34" charset="0"/>
                <a:ea typeface="Calibri" pitchFamily="34" charset="-122"/>
                <a:cs typeface="Calibri" pitchFamily="34" charset="-120"/>
              </a:rPr>
              <a:t>SETBACKS CAUGHT DURING VALIDATION  (not visible in model metrics)</a:t>
            </a:r>
            <a:endParaRPr lang="en-US" sz="1200" dirty="0"/>
          </a:p>
        </p:txBody>
      </p:sp>
      <p:sp>
        <p:nvSpPr>
          <p:cNvPr id="20" name="Shape 16"/>
          <p:cNvSpPr/>
          <p:nvPr/>
        </p:nvSpPr>
        <p:spPr>
          <a:xfrm>
            <a:off x="548640" y="4709160"/>
            <a:ext cx="3520440" cy="1783080"/>
          </a:xfrm>
          <a:prstGeom prst="roundRect">
            <a:avLst>
              <a:gd name="adj" fmla="val 3077"/>
            </a:avLst>
          </a:prstGeom>
          <a:solidFill>
            <a:srgbClr val="FFFFFF"/>
          </a:solidFill>
          <a:ln w="12700">
            <a:solidFill>
              <a:srgbClr val="E8E9ED"/>
            </a:solidFill>
            <a:prstDash val="solid"/>
          </a:ln>
          <a:effectLst>
            <a:outerShdw blurRad="63500" dist="25400" dir="5400000" algn="bl" rotWithShape="0">
              <a:srgbClr val="000000">
                <a:alpha val="10000"/>
              </a:srgbClr>
            </a:outerShdw>
          </a:effectLst>
        </p:spPr>
      </p:sp>
      <p:sp>
        <p:nvSpPr>
          <p:cNvPr id="21" name="Shape 17"/>
          <p:cNvSpPr/>
          <p:nvPr/>
        </p:nvSpPr>
        <p:spPr>
          <a:xfrm>
            <a:off x="749808" y="4910328"/>
            <a:ext cx="384048" cy="384048"/>
          </a:xfrm>
          <a:prstGeom prst="ellipse">
            <a:avLst/>
          </a:prstGeom>
          <a:solidFill>
            <a:srgbClr val="C0392B"/>
          </a:solidFill>
          <a:ln/>
        </p:spPr>
      </p:sp>
      <p:pic>
        <p:nvPicPr>
          <p:cNvPr id="22" name="Image 2" descr="icon_alertcircle.png"/>
          <p:cNvPicPr>
            <a:picLocks noChangeAspect="1"/>
          </p:cNvPicPr>
          <p:nvPr/>
        </p:nvPicPr>
        <p:blipFill>
          <a:blip r:embed="rId5"/>
          <a:stretch>
            <a:fillRect/>
          </a:stretch>
        </p:blipFill>
        <p:spPr>
          <a:xfrm>
            <a:off x="841980" y="5002500"/>
            <a:ext cx="199705" cy="199705"/>
          </a:xfrm>
          <a:prstGeom prst="rect">
            <a:avLst/>
          </a:prstGeom>
        </p:spPr>
      </p:pic>
      <p:sp>
        <p:nvSpPr>
          <p:cNvPr id="23" name="Text 18"/>
          <p:cNvSpPr/>
          <p:nvPr/>
        </p:nvSpPr>
        <p:spPr>
          <a:xfrm>
            <a:off x="731520" y="5394960"/>
            <a:ext cx="3154680" cy="502920"/>
          </a:xfrm>
          <a:prstGeom prst="rect">
            <a:avLst/>
          </a:prstGeom>
          <a:noFill/>
          <a:ln/>
        </p:spPr>
        <p:txBody>
          <a:bodyPr wrap="square" rtlCol="0" anchor="ctr"/>
          <a:lstStyle/>
          <a:p>
            <a:pPr marL="0" indent="0">
              <a:lnSpc>
                <a:spcPct val="110000"/>
              </a:lnSpc>
              <a:buNone/>
            </a:pPr>
            <a:r>
              <a:rPr lang="en-US" sz="1150" b="1" dirty="0">
                <a:solidFill>
                  <a:srgbClr val="14213D"/>
                </a:solidFill>
                <a:latin typeface="Calibri" pitchFamily="34" charset="0"/>
                <a:ea typeface="Calibri" pitchFamily="34" charset="-122"/>
                <a:cs typeface="Calibri" pitchFamily="34" charset="-120"/>
              </a:rPr>
              <a:t>300 players mislabeled as all-rounders</a:t>
            </a:r>
            <a:endParaRPr lang="en-US" sz="1150" dirty="0"/>
          </a:p>
        </p:txBody>
      </p:sp>
      <p:sp>
        <p:nvSpPr>
          <p:cNvPr id="24" name="Text 19"/>
          <p:cNvSpPr/>
          <p:nvPr/>
        </p:nvSpPr>
        <p:spPr>
          <a:xfrm>
            <a:off x="731520" y="5897880"/>
            <a:ext cx="3154680" cy="548640"/>
          </a:xfrm>
          <a:prstGeom prst="rect">
            <a:avLst/>
          </a:prstGeom>
          <a:noFill/>
          <a:ln/>
        </p:spPr>
        <p:txBody>
          <a:bodyPr wrap="square" rtlCol="0" anchor="ctr"/>
          <a:lstStyle/>
          <a:p>
            <a:pPr marL="0" indent="0">
              <a:lnSpc>
                <a:spcPct val="115000"/>
              </a:lnSpc>
              <a:buNone/>
            </a:pPr>
            <a:r>
              <a:rPr lang="en-US" sz="1050" i="1" dirty="0">
                <a:solidFill>
                  <a:srgbClr val="1E7A4C"/>
                </a:solidFill>
                <a:latin typeface="Calibri" pitchFamily="34" charset="0"/>
                <a:ea typeface="Calibri" pitchFamily="34" charset="-122"/>
                <a:cs typeface="Calibri" pitchFamily="34" charset="-120"/>
              </a:rPr>
              <a:t>Fixed with 10+ match threshold in both disciplines → 101 genuine all-rounders</a:t>
            </a:r>
            <a:endParaRPr lang="en-US" sz="1050" dirty="0"/>
          </a:p>
        </p:txBody>
      </p:sp>
      <p:sp>
        <p:nvSpPr>
          <p:cNvPr id="25" name="Shape 20"/>
          <p:cNvSpPr/>
          <p:nvPr/>
        </p:nvSpPr>
        <p:spPr>
          <a:xfrm>
            <a:off x="4343400" y="4709160"/>
            <a:ext cx="3520440" cy="1783080"/>
          </a:xfrm>
          <a:prstGeom prst="roundRect">
            <a:avLst>
              <a:gd name="adj" fmla="val 3077"/>
            </a:avLst>
          </a:prstGeom>
          <a:solidFill>
            <a:srgbClr val="FFFFFF"/>
          </a:solidFill>
          <a:ln w="12700">
            <a:solidFill>
              <a:srgbClr val="E8E9ED"/>
            </a:solidFill>
            <a:prstDash val="solid"/>
          </a:ln>
          <a:effectLst>
            <a:outerShdw blurRad="63500" dist="25400" dir="5400000" algn="bl" rotWithShape="0">
              <a:srgbClr val="000000">
                <a:alpha val="10000"/>
              </a:srgbClr>
            </a:outerShdw>
          </a:effectLst>
        </p:spPr>
      </p:sp>
      <p:sp>
        <p:nvSpPr>
          <p:cNvPr id="26" name="Shape 21"/>
          <p:cNvSpPr/>
          <p:nvPr/>
        </p:nvSpPr>
        <p:spPr>
          <a:xfrm>
            <a:off x="4544568" y="4910328"/>
            <a:ext cx="384048" cy="384048"/>
          </a:xfrm>
          <a:prstGeom prst="ellipse">
            <a:avLst/>
          </a:prstGeom>
          <a:solidFill>
            <a:srgbClr val="C0392B"/>
          </a:solidFill>
          <a:ln/>
        </p:spPr>
      </p:sp>
      <p:pic>
        <p:nvPicPr>
          <p:cNvPr id="27" name="Image 3" descr="icon_alertcircle.png"/>
          <p:cNvPicPr>
            <a:picLocks noChangeAspect="1"/>
          </p:cNvPicPr>
          <p:nvPr/>
        </p:nvPicPr>
        <p:blipFill>
          <a:blip r:embed="rId5"/>
          <a:stretch>
            <a:fillRect/>
          </a:stretch>
        </p:blipFill>
        <p:spPr>
          <a:xfrm>
            <a:off x="4636740" y="5002500"/>
            <a:ext cx="199705" cy="199705"/>
          </a:xfrm>
          <a:prstGeom prst="rect">
            <a:avLst/>
          </a:prstGeom>
        </p:spPr>
      </p:pic>
      <p:sp>
        <p:nvSpPr>
          <p:cNvPr id="28" name="Text 22"/>
          <p:cNvSpPr/>
          <p:nvPr/>
        </p:nvSpPr>
        <p:spPr>
          <a:xfrm>
            <a:off x="4526280" y="5394960"/>
            <a:ext cx="3154680" cy="502920"/>
          </a:xfrm>
          <a:prstGeom prst="rect">
            <a:avLst/>
          </a:prstGeom>
          <a:noFill/>
          <a:ln/>
        </p:spPr>
        <p:txBody>
          <a:bodyPr wrap="square" rtlCol="0" anchor="ctr"/>
          <a:lstStyle/>
          <a:p>
            <a:pPr marL="0" indent="0">
              <a:lnSpc>
                <a:spcPct val="110000"/>
              </a:lnSpc>
              <a:buNone/>
            </a:pPr>
            <a:r>
              <a:rPr lang="en-US" sz="1150" b="1" dirty="0">
                <a:solidFill>
                  <a:srgbClr val="14213D"/>
                </a:solidFill>
                <a:latin typeface="Calibri" pitchFamily="34" charset="0"/>
                <a:ea typeface="Calibri" pitchFamily="34" charset="-122"/>
                <a:cs typeface="Calibri" pitchFamily="34" charset="-120"/>
              </a:rPr>
              <a:t>Retired players in the predicted XI</a:t>
            </a:r>
            <a:endParaRPr lang="en-US" sz="1150" dirty="0"/>
          </a:p>
        </p:txBody>
      </p:sp>
      <p:sp>
        <p:nvSpPr>
          <p:cNvPr id="29" name="Text 23"/>
          <p:cNvSpPr/>
          <p:nvPr/>
        </p:nvSpPr>
        <p:spPr>
          <a:xfrm>
            <a:off x="4526280" y="5897880"/>
            <a:ext cx="3154680" cy="548640"/>
          </a:xfrm>
          <a:prstGeom prst="rect">
            <a:avLst/>
          </a:prstGeom>
          <a:noFill/>
          <a:ln/>
        </p:spPr>
        <p:txBody>
          <a:bodyPr wrap="square" rtlCol="0" anchor="ctr"/>
          <a:lstStyle/>
          <a:p>
            <a:pPr marL="0" indent="0">
              <a:lnSpc>
                <a:spcPct val="115000"/>
              </a:lnSpc>
              <a:buNone/>
            </a:pPr>
            <a:r>
              <a:rPr lang="en-US" sz="1050" i="1" dirty="0">
                <a:solidFill>
                  <a:srgbClr val="1E7A4C"/>
                </a:solidFill>
                <a:latin typeface="Calibri" pitchFamily="34" charset="0"/>
                <a:ea typeface="Calibri" pitchFamily="34" charset="-122"/>
                <a:cs typeface="Calibri" pitchFamily="34" charset="-120"/>
              </a:rPr>
              <a:t>Built auction_pool_2027.csv availability filter to exclude retired/unavailable players</a:t>
            </a:r>
            <a:endParaRPr lang="en-US" sz="1050" dirty="0"/>
          </a:p>
        </p:txBody>
      </p:sp>
      <p:sp>
        <p:nvSpPr>
          <p:cNvPr id="30" name="Shape 24"/>
          <p:cNvSpPr/>
          <p:nvPr/>
        </p:nvSpPr>
        <p:spPr>
          <a:xfrm>
            <a:off x="8138160" y="4709160"/>
            <a:ext cx="3520440" cy="1783080"/>
          </a:xfrm>
          <a:prstGeom prst="roundRect">
            <a:avLst>
              <a:gd name="adj" fmla="val 3077"/>
            </a:avLst>
          </a:prstGeom>
          <a:solidFill>
            <a:srgbClr val="FFFFFF"/>
          </a:solidFill>
          <a:ln w="12700">
            <a:solidFill>
              <a:srgbClr val="E8E9ED"/>
            </a:solidFill>
            <a:prstDash val="solid"/>
          </a:ln>
          <a:effectLst>
            <a:outerShdw blurRad="63500" dist="25400" dir="5400000" algn="bl" rotWithShape="0">
              <a:srgbClr val="000000">
                <a:alpha val="10000"/>
              </a:srgbClr>
            </a:outerShdw>
          </a:effectLst>
        </p:spPr>
      </p:sp>
      <p:sp>
        <p:nvSpPr>
          <p:cNvPr id="31" name="Shape 25"/>
          <p:cNvSpPr/>
          <p:nvPr/>
        </p:nvSpPr>
        <p:spPr>
          <a:xfrm>
            <a:off x="8339328" y="4910328"/>
            <a:ext cx="384048" cy="384048"/>
          </a:xfrm>
          <a:prstGeom prst="ellipse">
            <a:avLst/>
          </a:prstGeom>
          <a:solidFill>
            <a:srgbClr val="C0392B"/>
          </a:solidFill>
          <a:ln/>
        </p:spPr>
      </p:sp>
      <p:pic>
        <p:nvPicPr>
          <p:cNvPr id="32" name="Image 4" descr="icon_alertcircle.png"/>
          <p:cNvPicPr>
            <a:picLocks noChangeAspect="1"/>
          </p:cNvPicPr>
          <p:nvPr/>
        </p:nvPicPr>
        <p:blipFill>
          <a:blip r:embed="rId5"/>
          <a:stretch>
            <a:fillRect/>
          </a:stretch>
        </p:blipFill>
        <p:spPr>
          <a:xfrm>
            <a:off x="8431500" y="5002500"/>
            <a:ext cx="199705" cy="199705"/>
          </a:xfrm>
          <a:prstGeom prst="rect">
            <a:avLst/>
          </a:prstGeom>
        </p:spPr>
      </p:pic>
      <p:sp>
        <p:nvSpPr>
          <p:cNvPr id="33" name="Text 26"/>
          <p:cNvSpPr/>
          <p:nvPr/>
        </p:nvSpPr>
        <p:spPr>
          <a:xfrm>
            <a:off x="8321040" y="5394960"/>
            <a:ext cx="3154680" cy="502920"/>
          </a:xfrm>
          <a:prstGeom prst="rect">
            <a:avLst/>
          </a:prstGeom>
          <a:noFill/>
          <a:ln/>
        </p:spPr>
        <p:txBody>
          <a:bodyPr wrap="square" rtlCol="0" anchor="ctr"/>
          <a:lstStyle/>
          <a:p>
            <a:pPr marL="0" indent="0">
              <a:lnSpc>
                <a:spcPct val="110000"/>
              </a:lnSpc>
              <a:buNone/>
            </a:pPr>
            <a:r>
              <a:rPr lang="en-US" sz="1150" b="1" dirty="0">
                <a:solidFill>
                  <a:srgbClr val="14213D"/>
                </a:solidFill>
                <a:latin typeface="Calibri" pitchFamily="34" charset="0"/>
                <a:ea typeface="Calibri" pitchFamily="34" charset="-122"/>
                <a:cs typeface="Calibri" pitchFamily="34" charset="-120"/>
              </a:rPr>
              <a:t>All-spin attack, no pace bowlers selected</a:t>
            </a:r>
            <a:endParaRPr lang="en-US" sz="1150" dirty="0"/>
          </a:p>
        </p:txBody>
      </p:sp>
      <p:sp>
        <p:nvSpPr>
          <p:cNvPr id="34" name="Text 27"/>
          <p:cNvSpPr/>
          <p:nvPr/>
        </p:nvSpPr>
        <p:spPr>
          <a:xfrm>
            <a:off x="8321040" y="5897880"/>
            <a:ext cx="3154680" cy="548640"/>
          </a:xfrm>
          <a:prstGeom prst="rect">
            <a:avLst/>
          </a:prstGeom>
          <a:noFill/>
          <a:ln/>
        </p:spPr>
        <p:txBody>
          <a:bodyPr wrap="square" rtlCol="0" anchor="ctr"/>
          <a:lstStyle/>
          <a:p>
            <a:pPr marL="0" indent="0">
              <a:lnSpc>
                <a:spcPct val="115000"/>
              </a:lnSpc>
              <a:buNone/>
            </a:pPr>
            <a:r>
              <a:rPr lang="en-US" sz="1050" i="1" dirty="0">
                <a:solidFill>
                  <a:srgbClr val="1E7A4C"/>
                </a:solidFill>
                <a:latin typeface="Calibri" pitchFamily="34" charset="0"/>
                <a:ea typeface="Calibri" pitchFamily="34" charset="-122"/>
                <a:cs typeface="Calibri" pitchFamily="34" charset="-120"/>
              </a:rPr>
              <a:t>Added LP constraints: min. 2 pace bowlers, min. 1 spinner, max. 2 overseas batsmen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5"/>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4213D"/>
          </a:solidFill>
          <a:ln/>
        </p:spPr>
      </p:sp>
      <p:pic>
        <p:nvPicPr>
          <p:cNvPr id="3" name="Image 0" descr="icon_map.png"/>
          <p:cNvPicPr>
            <a:picLocks noChangeAspect="1"/>
          </p:cNvPicPr>
          <p:nvPr/>
        </p:nvPicPr>
        <p:blipFill>
          <a:blip r:embed="rId3"/>
          <a:stretch>
            <a:fillRect/>
          </a:stretch>
        </p:blipFill>
        <p:spPr>
          <a:xfrm>
            <a:off x="669341" y="577901"/>
            <a:ext cx="261518" cy="261518"/>
          </a:xfrm>
          <a:prstGeom prst="rect">
            <a:avLst/>
          </a:prstGeom>
        </p:spPr>
      </p:pic>
      <p:sp>
        <p:nvSpPr>
          <p:cNvPr id="4" name="Text 1"/>
          <p:cNvSpPr/>
          <p:nvPr/>
        </p:nvSpPr>
        <p:spPr>
          <a:xfrm>
            <a:off x="1234440" y="438912"/>
            <a:ext cx="8686800" cy="548640"/>
          </a:xfrm>
          <a:prstGeom prst="rect">
            <a:avLst/>
          </a:prstGeom>
          <a:noFill/>
          <a:ln/>
        </p:spPr>
        <p:txBody>
          <a:bodyPr wrap="square"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Further Improvement Areas</a:t>
            </a:r>
            <a:endParaRPr lang="en-US" sz="2800" dirty="0"/>
          </a:p>
        </p:txBody>
      </p:sp>
      <p:sp>
        <p:nvSpPr>
          <p:cNvPr id="5" name="Text 2"/>
          <p:cNvSpPr/>
          <p:nvPr/>
        </p:nvSpPr>
        <p:spPr>
          <a:xfrm>
            <a:off x="1234440" y="960120"/>
            <a:ext cx="9601200" cy="320040"/>
          </a:xfrm>
          <a:prstGeom prst="rect">
            <a:avLst/>
          </a:prstGeom>
          <a:noFill/>
          <a:ln/>
        </p:spPr>
        <p:txBody>
          <a:bodyPr wrap="square"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From match-level win prediction to a full trophy probability simulator</a:t>
            </a:r>
            <a:endParaRPr lang="en-US" sz="1300" dirty="0"/>
          </a:p>
        </p:txBody>
      </p:sp>
      <p:sp>
        <p:nvSpPr>
          <p:cNvPr id="6" name="Shape 3"/>
          <p:cNvSpPr/>
          <p:nvPr/>
        </p:nvSpPr>
        <p:spPr>
          <a:xfrm>
            <a:off x="548640" y="1691640"/>
            <a:ext cx="2606040" cy="2834640"/>
          </a:xfrm>
          <a:prstGeom prst="roundRect">
            <a:avLst>
              <a:gd name="adj" fmla="val 2456"/>
            </a:avLst>
          </a:prstGeom>
          <a:solidFill>
            <a:srgbClr val="FFFFFF"/>
          </a:solidFill>
          <a:ln w="12700">
            <a:solidFill>
              <a:srgbClr val="E8E9ED"/>
            </a:solidFill>
            <a:prstDash val="solid"/>
          </a:ln>
          <a:effectLst>
            <a:outerShdw blurRad="63500" dist="25400" dir="5400000" algn="bl" rotWithShape="0">
              <a:srgbClr val="000000">
                <a:alpha val="10000"/>
              </a:srgbClr>
            </a:outerShdw>
          </a:effectLst>
        </p:spPr>
      </p:sp>
      <p:sp>
        <p:nvSpPr>
          <p:cNvPr id="7" name="Shape 4"/>
          <p:cNvSpPr/>
          <p:nvPr/>
        </p:nvSpPr>
        <p:spPr>
          <a:xfrm>
            <a:off x="1577340" y="1920240"/>
            <a:ext cx="548640" cy="548640"/>
          </a:xfrm>
          <a:prstGeom prst="ellipse">
            <a:avLst/>
          </a:prstGeom>
          <a:solidFill>
            <a:srgbClr val="14213D"/>
          </a:solidFill>
          <a:ln/>
        </p:spPr>
      </p:sp>
      <p:pic>
        <p:nvPicPr>
          <p:cNvPr id="8" name="Image 1" descr="icon_target.png"/>
          <p:cNvPicPr>
            <a:picLocks noChangeAspect="1"/>
          </p:cNvPicPr>
          <p:nvPr/>
        </p:nvPicPr>
        <p:blipFill>
          <a:blip r:embed="rId4"/>
          <a:stretch>
            <a:fillRect/>
          </a:stretch>
        </p:blipFill>
        <p:spPr>
          <a:xfrm>
            <a:off x="1709014" y="2051914"/>
            <a:ext cx="285293" cy="285293"/>
          </a:xfrm>
          <a:prstGeom prst="rect">
            <a:avLst/>
          </a:prstGeom>
        </p:spPr>
      </p:pic>
      <p:sp>
        <p:nvSpPr>
          <p:cNvPr id="9" name="Text 5"/>
          <p:cNvSpPr/>
          <p:nvPr/>
        </p:nvSpPr>
        <p:spPr>
          <a:xfrm>
            <a:off x="658368" y="2606040"/>
            <a:ext cx="2386584" cy="548640"/>
          </a:xfrm>
          <a:prstGeom prst="rect">
            <a:avLst/>
          </a:prstGeom>
          <a:noFill/>
          <a:ln/>
        </p:spPr>
        <p:txBody>
          <a:bodyPr wrap="square" rtlCol="0" anchor="ctr"/>
          <a:lstStyle/>
          <a:p>
            <a:pPr marL="0" indent="0" algn="ctr">
              <a:lnSpc>
                <a:spcPct val="105000"/>
              </a:lnSpc>
              <a:buNone/>
            </a:pPr>
            <a:r>
              <a:rPr lang="en-US" sz="1250" b="1" dirty="0">
                <a:solidFill>
                  <a:srgbClr val="14213D"/>
                </a:solidFill>
                <a:latin typeface="Calibri" pitchFamily="34" charset="0"/>
                <a:ea typeface="Calibri" pitchFamily="34" charset="-122"/>
                <a:cs typeface="Calibri" pitchFamily="34" charset="-120"/>
              </a:rPr>
              <a:t>1. Match Win</a:t>
            </a:r>
            <a:endParaRPr lang="en-US" sz="1250" dirty="0"/>
          </a:p>
          <a:p>
            <a:pPr marL="0" indent="0" algn="ctr">
              <a:lnSpc>
                <a:spcPct val="105000"/>
              </a:lnSpc>
              <a:buNone/>
            </a:pPr>
            <a:r>
              <a:rPr lang="en-US" sz="1250" b="1" dirty="0">
                <a:solidFill>
                  <a:srgbClr val="14213D"/>
                </a:solidFill>
                <a:latin typeface="Calibri" pitchFamily="34" charset="0"/>
                <a:ea typeface="Calibri" pitchFamily="34" charset="-122"/>
                <a:cs typeface="Calibri" pitchFamily="34" charset="-120"/>
              </a:rPr>
              <a:t>Probability Model</a:t>
            </a:r>
            <a:endParaRPr lang="en-US" sz="1250" dirty="0"/>
          </a:p>
        </p:txBody>
      </p:sp>
      <p:sp>
        <p:nvSpPr>
          <p:cNvPr id="10" name="Text 6"/>
          <p:cNvSpPr/>
          <p:nvPr/>
        </p:nvSpPr>
        <p:spPr>
          <a:xfrm>
            <a:off x="685800" y="3200400"/>
            <a:ext cx="2331720" cy="1234440"/>
          </a:xfrm>
          <a:prstGeom prst="rect">
            <a:avLst/>
          </a:prstGeom>
          <a:noFill/>
          <a:ln/>
        </p:spPr>
        <p:txBody>
          <a:bodyPr wrap="square" rtlCol="0" anchor="ctr"/>
          <a:lstStyle/>
          <a:p>
            <a:pPr marL="0" indent="0" algn="l">
              <a:lnSpc>
                <a:spcPct val="120000"/>
              </a:lnSpc>
              <a:buNone/>
            </a:pPr>
            <a:r>
              <a:rPr lang="en-US" sz="1000" dirty="0">
                <a:solidFill>
                  <a:srgbClr val="4A5568"/>
                </a:solidFill>
                <a:latin typeface="Calibri" pitchFamily="34" charset="0"/>
                <a:ea typeface="Calibri" pitchFamily="34" charset="-122"/>
                <a:cs typeface="Calibri" pitchFamily="34" charset="-120"/>
              </a:rPr>
              <a:t>Second-layer XGBoost predicting P(team A beats team B) using aggregated squad scores, venue, toss, and head-to-head history.</a:t>
            </a:r>
            <a:endParaRPr lang="en-US" sz="1000" dirty="0"/>
          </a:p>
        </p:txBody>
      </p:sp>
      <p:sp>
        <p:nvSpPr>
          <p:cNvPr id="11" name="Text 7"/>
          <p:cNvSpPr/>
          <p:nvPr/>
        </p:nvSpPr>
        <p:spPr>
          <a:xfrm>
            <a:off x="3136392" y="2743200"/>
            <a:ext cx="265176" cy="365760"/>
          </a:xfrm>
          <a:prstGeom prst="rect">
            <a:avLst/>
          </a:prstGeom>
          <a:noFill/>
          <a:ln/>
        </p:spPr>
        <p:txBody>
          <a:bodyPr wrap="square" rtlCol="0" anchor="ctr"/>
          <a:lstStyle/>
          <a:p>
            <a:pPr marL="0" indent="0" algn="ctr">
              <a:buNone/>
            </a:pPr>
            <a:r>
              <a:rPr lang="en-US" sz="1600" b="1" dirty="0">
                <a:solidFill>
                  <a:srgbClr val="D4A017"/>
                </a:solidFill>
                <a:latin typeface="Arial" pitchFamily="34" charset="0"/>
                <a:ea typeface="Arial" pitchFamily="34" charset="-122"/>
                <a:cs typeface="Arial" pitchFamily="34" charset="-120"/>
              </a:rPr>
              <a:t>→</a:t>
            </a:r>
            <a:endParaRPr lang="en-US" sz="1600" dirty="0"/>
          </a:p>
        </p:txBody>
      </p:sp>
      <p:sp>
        <p:nvSpPr>
          <p:cNvPr id="12" name="Shape 8"/>
          <p:cNvSpPr/>
          <p:nvPr/>
        </p:nvSpPr>
        <p:spPr>
          <a:xfrm>
            <a:off x="3383280" y="1691640"/>
            <a:ext cx="2606040" cy="2834640"/>
          </a:xfrm>
          <a:prstGeom prst="roundRect">
            <a:avLst>
              <a:gd name="adj" fmla="val 2456"/>
            </a:avLst>
          </a:prstGeom>
          <a:solidFill>
            <a:srgbClr val="FFFFFF"/>
          </a:solidFill>
          <a:ln w="12700">
            <a:solidFill>
              <a:srgbClr val="E8E9ED"/>
            </a:solidFill>
            <a:prstDash val="solid"/>
          </a:ln>
          <a:effectLst>
            <a:outerShdw blurRad="63500" dist="25400" dir="5400000" algn="bl" rotWithShape="0">
              <a:srgbClr val="000000">
                <a:alpha val="10000"/>
              </a:srgbClr>
            </a:outerShdw>
          </a:effectLst>
        </p:spPr>
      </p:sp>
      <p:sp>
        <p:nvSpPr>
          <p:cNvPr id="13" name="Shape 9"/>
          <p:cNvSpPr/>
          <p:nvPr/>
        </p:nvSpPr>
        <p:spPr>
          <a:xfrm>
            <a:off x="4411980" y="1920240"/>
            <a:ext cx="548640" cy="548640"/>
          </a:xfrm>
          <a:prstGeom prst="ellipse">
            <a:avLst/>
          </a:prstGeom>
          <a:solidFill>
            <a:srgbClr val="2B4C7E"/>
          </a:solidFill>
          <a:ln/>
        </p:spPr>
      </p:sp>
      <p:pic>
        <p:nvPicPr>
          <p:cNvPr id="14" name="Image 2" descr="icon_barchart.png"/>
          <p:cNvPicPr>
            <a:picLocks noChangeAspect="1"/>
          </p:cNvPicPr>
          <p:nvPr/>
        </p:nvPicPr>
        <p:blipFill>
          <a:blip r:embed="rId5"/>
          <a:stretch>
            <a:fillRect/>
          </a:stretch>
        </p:blipFill>
        <p:spPr>
          <a:xfrm>
            <a:off x="4543654" y="2051914"/>
            <a:ext cx="285293" cy="285293"/>
          </a:xfrm>
          <a:prstGeom prst="rect">
            <a:avLst/>
          </a:prstGeom>
        </p:spPr>
      </p:pic>
      <p:sp>
        <p:nvSpPr>
          <p:cNvPr id="15" name="Text 10"/>
          <p:cNvSpPr/>
          <p:nvPr/>
        </p:nvSpPr>
        <p:spPr>
          <a:xfrm>
            <a:off x="3493008" y="2606040"/>
            <a:ext cx="2386584" cy="548640"/>
          </a:xfrm>
          <a:prstGeom prst="rect">
            <a:avLst/>
          </a:prstGeom>
          <a:noFill/>
          <a:ln/>
        </p:spPr>
        <p:txBody>
          <a:bodyPr wrap="square" rtlCol="0" anchor="ctr"/>
          <a:lstStyle/>
          <a:p>
            <a:pPr marL="0" indent="0" algn="ctr">
              <a:lnSpc>
                <a:spcPct val="105000"/>
              </a:lnSpc>
              <a:buNone/>
            </a:pPr>
            <a:r>
              <a:rPr lang="en-US" sz="1250" b="1" dirty="0">
                <a:solidFill>
                  <a:srgbClr val="14213D"/>
                </a:solidFill>
                <a:latin typeface="Calibri" pitchFamily="34" charset="0"/>
                <a:ea typeface="Calibri" pitchFamily="34" charset="-122"/>
                <a:cs typeface="Calibri" pitchFamily="34" charset="-120"/>
              </a:rPr>
              <a:t>2. Elo Rating</a:t>
            </a:r>
            <a:endParaRPr lang="en-US" sz="1250" dirty="0"/>
          </a:p>
          <a:p>
            <a:pPr marL="0" indent="0" algn="ctr">
              <a:lnSpc>
                <a:spcPct val="105000"/>
              </a:lnSpc>
              <a:buNone/>
            </a:pPr>
            <a:r>
              <a:rPr lang="en-US" sz="1250" b="1" dirty="0">
                <a:solidFill>
                  <a:srgbClr val="14213D"/>
                </a:solidFill>
                <a:latin typeface="Calibri" pitchFamily="34" charset="0"/>
                <a:ea typeface="Calibri" pitchFamily="34" charset="-122"/>
                <a:cs typeface="Calibri" pitchFamily="34" charset="-120"/>
              </a:rPr>
              <a:t>System</a:t>
            </a:r>
            <a:endParaRPr lang="en-US" sz="1250" dirty="0"/>
          </a:p>
        </p:txBody>
      </p:sp>
      <p:sp>
        <p:nvSpPr>
          <p:cNvPr id="16" name="Text 11"/>
          <p:cNvSpPr/>
          <p:nvPr/>
        </p:nvSpPr>
        <p:spPr>
          <a:xfrm>
            <a:off x="3520440" y="3200400"/>
            <a:ext cx="2331720" cy="1234440"/>
          </a:xfrm>
          <a:prstGeom prst="rect">
            <a:avLst/>
          </a:prstGeom>
          <a:noFill/>
          <a:ln/>
        </p:spPr>
        <p:txBody>
          <a:bodyPr wrap="square" rtlCol="0" anchor="ctr"/>
          <a:lstStyle/>
          <a:p>
            <a:pPr marL="0" indent="0" algn="l">
              <a:lnSpc>
                <a:spcPct val="120000"/>
              </a:lnSpc>
              <a:buNone/>
            </a:pPr>
            <a:r>
              <a:rPr lang="en-US" sz="1000" dirty="0">
                <a:solidFill>
                  <a:srgbClr val="4A5568"/>
                </a:solidFill>
                <a:latin typeface="Calibri" pitchFamily="34" charset="0"/>
                <a:ea typeface="Calibri" pitchFamily="34" charset="-122"/>
                <a:cs typeface="Calibri" pitchFamily="34" charset="-120"/>
              </a:rPr>
              <a:t>Context-aware team strength ratings, updated after every match, so wins against strong opponents are weighted higher.</a:t>
            </a:r>
            <a:endParaRPr lang="en-US" sz="1000" dirty="0"/>
          </a:p>
        </p:txBody>
      </p:sp>
      <p:sp>
        <p:nvSpPr>
          <p:cNvPr id="17" name="Text 12"/>
          <p:cNvSpPr/>
          <p:nvPr/>
        </p:nvSpPr>
        <p:spPr>
          <a:xfrm>
            <a:off x="5971032" y="2743200"/>
            <a:ext cx="265176" cy="365760"/>
          </a:xfrm>
          <a:prstGeom prst="rect">
            <a:avLst/>
          </a:prstGeom>
          <a:noFill/>
          <a:ln/>
        </p:spPr>
        <p:txBody>
          <a:bodyPr wrap="square" rtlCol="0" anchor="ctr"/>
          <a:lstStyle/>
          <a:p>
            <a:pPr marL="0" indent="0" algn="ctr">
              <a:buNone/>
            </a:pPr>
            <a:r>
              <a:rPr lang="en-US" sz="1600" b="1" dirty="0">
                <a:solidFill>
                  <a:srgbClr val="D4A017"/>
                </a:solidFill>
                <a:latin typeface="Arial" pitchFamily="34" charset="0"/>
                <a:ea typeface="Arial" pitchFamily="34" charset="-122"/>
                <a:cs typeface="Arial" pitchFamily="34" charset="-120"/>
              </a:rPr>
              <a:t>→</a:t>
            </a:r>
            <a:endParaRPr lang="en-US" sz="1600" dirty="0"/>
          </a:p>
        </p:txBody>
      </p:sp>
      <p:sp>
        <p:nvSpPr>
          <p:cNvPr id="18" name="Shape 13"/>
          <p:cNvSpPr/>
          <p:nvPr/>
        </p:nvSpPr>
        <p:spPr>
          <a:xfrm>
            <a:off x="6217920" y="1691640"/>
            <a:ext cx="2606040" cy="2834640"/>
          </a:xfrm>
          <a:prstGeom prst="roundRect">
            <a:avLst>
              <a:gd name="adj" fmla="val 2456"/>
            </a:avLst>
          </a:prstGeom>
          <a:solidFill>
            <a:srgbClr val="FFFFFF"/>
          </a:solidFill>
          <a:ln w="12700">
            <a:solidFill>
              <a:srgbClr val="E8E9ED"/>
            </a:solidFill>
            <a:prstDash val="solid"/>
          </a:ln>
          <a:effectLst>
            <a:outerShdw blurRad="63500" dist="25400" dir="5400000" algn="bl" rotWithShape="0">
              <a:srgbClr val="000000">
                <a:alpha val="10000"/>
              </a:srgbClr>
            </a:outerShdw>
          </a:effectLst>
        </p:spPr>
      </p:sp>
      <p:sp>
        <p:nvSpPr>
          <p:cNvPr id="19" name="Shape 14"/>
          <p:cNvSpPr/>
          <p:nvPr/>
        </p:nvSpPr>
        <p:spPr>
          <a:xfrm>
            <a:off x="7246620" y="1920240"/>
            <a:ext cx="548640" cy="548640"/>
          </a:xfrm>
          <a:prstGeom prst="ellipse">
            <a:avLst/>
          </a:prstGeom>
          <a:solidFill>
            <a:srgbClr val="14213D"/>
          </a:solidFill>
          <a:ln/>
        </p:spPr>
      </p:sp>
      <p:pic>
        <p:nvPicPr>
          <p:cNvPr id="20" name="Image 3" descr="icon_shuffle.png"/>
          <p:cNvPicPr>
            <a:picLocks noChangeAspect="1"/>
          </p:cNvPicPr>
          <p:nvPr/>
        </p:nvPicPr>
        <p:blipFill>
          <a:blip r:embed="rId6"/>
          <a:stretch>
            <a:fillRect/>
          </a:stretch>
        </p:blipFill>
        <p:spPr>
          <a:xfrm>
            <a:off x="7378294" y="2051914"/>
            <a:ext cx="285293" cy="285293"/>
          </a:xfrm>
          <a:prstGeom prst="rect">
            <a:avLst/>
          </a:prstGeom>
        </p:spPr>
      </p:pic>
      <p:sp>
        <p:nvSpPr>
          <p:cNvPr id="21" name="Text 15"/>
          <p:cNvSpPr/>
          <p:nvPr/>
        </p:nvSpPr>
        <p:spPr>
          <a:xfrm>
            <a:off x="6327648" y="2606040"/>
            <a:ext cx="2386584" cy="548640"/>
          </a:xfrm>
          <a:prstGeom prst="rect">
            <a:avLst/>
          </a:prstGeom>
          <a:noFill/>
          <a:ln/>
        </p:spPr>
        <p:txBody>
          <a:bodyPr wrap="square" rtlCol="0" anchor="ctr"/>
          <a:lstStyle/>
          <a:p>
            <a:pPr marL="0" indent="0" algn="ctr">
              <a:lnSpc>
                <a:spcPct val="105000"/>
              </a:lnSpc>
              <a:buNone/>
            </a:pPr>
            <a:r>
              <a:rPr lang="en-US" sz="1250" b="1" dirty="0">
                <a:solidFill>
                  <a:srgbClr val="14213D"/>
                </a:solidFill>
                <a:latin typeface="Calibri" pitchFamily="34" charset="0"/>
                <a:ea typeface="Calibri" pitchFamily="34" charset="-122"/>
                <a:cs typeface="Calibri" pitchFamily="34" charset="-120"/>
              </a:rPr>
              <a:t>3. Monte Carlo</a:t>
            </a:r>
            <a:endParaRPr lang="en-US" sz="1250" dirty="0"/>
          </a:p>
          <a:p>
            <a:pPr marL="0" indent="0" algn="ctr">
              <a:lnSpc>
                <a:spcPct val="105000"/>
              </a:lnSpc>
              <a:buNone/>
            </a:pPr>
            <a:r>
              <a:rPr lang="en-US" sz="1250" b="1" dirty="0">
                <a:solidFill>
                  <a:srgbClr val="14213D"/>
                </a:solidFill>
                <a:latin typeface="Calibri" pitchFamily="34" charset="0"/>
                <a:ea typeface="Calibri" pitchFamily="34" charset="-122"/>
                <a:cs typeface="Calibri" pitchFamily="34" charset="-120"/>
              </a:rPr>
              <a:t>Season Simulator</a:t>
            </a:r>
            <a:endParaRPr lang="en-US" sz="1250" dirty="0"/>
          </a:p>
        </p:txBody>
      </p:sp>
      <p:sp>
        <p:nvSpPr>
          <p:cNvPr id="22" name="Text 16"/>
          <p:cNvSpPr/>
          <p:nvPr/>
        </p:nvSpPr>
        <p:spPr>
          <a:xfrm>
            <a:off x="6355080" y="3200400"/>
            <a:ext cx="2331720" cy="1234440"/>
          </a:xfrm>
          <a:prstGeom prst="rect">
            <a:avLst/>
          </a:prstGeom>
          <a:noFill/>
          <a:ln/>
        </p:spPr>
        <p:txBody>
          <a:bodyPr wrap="square" rtlCol="0" anchor="ctr"/>
          <a:lstStyle/>
          <a:p>
            <a:pPr marL="0" indent="0" algn="l">
              <a:lnSpc>
                <a:spcPct val="120000"/>
              </a:lnSpc>
              <a:buNone/>
            </a:pPr>
            <a:r>
              <a:rPr lang="en-US" sz="1000" dirty="0">
                <a:solidFill>
                  <a:srgbClr val="4A5568"/>
                </a:solidFill>
                <a:latin typeface="Calibri" pitchFamily="34" charset="0"/>
                <a:ea typeface="Calibri" pitchFamily="34" charset="-122"/>
                <a:cs typeface="Calibri" pitchFamily="34" charset="-120"/>
              </a:rPr>
              <a:t>Simulate the full IPL season 10,000 times to convert match probabilities into trophy probability distributions per team.</a:t>
            </a:r>
            <a:endParaRPr lang="en-US" sz="1000" dirty="0"/>
          </a:p>
        </p:txBody>
      </p:sp>
      <p:sp>
        <p:nvSpPr>
          <p:cNvPr id="23" name="Text 17"/>
          <p:cNvSpPr/>
          <p:nvPr/>
        </p:nvSpPr>
        <p:spPr>
          <a:xfrm>
            <a:off x="8805672" y="2743200"/>
            <a:ext cx="265176" cy="365760"/>
          </a:xfrm>
          <a:prstGeom prst="rect">
            <a:avLst/>
          </a:prstGeom>
          <a:noFill/>
          <a:ln/>
        </p:spPr>
        <p:txBody>
          <a:bodyPr wrap="square" rtlCol="0" anchor="ctr"/>
          <a:lstStyle/>
          <a:p>
            <a:pPr marL="0" indent="0" algn="ctr">
              <a:buNone/>
            </a:pPr>
            <a:r>
              <a:rPr lang="en-US" sz="1600" b="1" dirty="0">
                <a:solidFill>
                  <a:srgbClr val="D4A017"/>
                </a:solidFill>
                <a:latin typeface="Arial" pitchFamily="34" charset="0"/>
                <a:ea typeface="Arial" pitchFamily="34" charset="-122"/>
                <a:cs typeface="Arial" pitchFamily="34" charset="-120"/>
              </a:rPr>
              <a:t>→</a:t>
            </a:r>
            <a:endParaRPr lang="en-US" sz="1600" dirty="0"/>
          </a:p>
        </p:txBody>
      </p:sp>
      <p:sp>
        <p:nvSpPr>
          <p:cNvPr id="24" name="Shape 18"/>
          <p:cNvSpPr/>
          <p:nvPr/>
        </p:nvSpPr>
        <p:spPr>
          <a:xfrm>
            <a:off x="9052560" y="1691640"/>
            <a:ext cx="2606040" cy="2834640"/>
          </a:xfrm>
          <a:prstGeom prst="roundRect">
            <a:avLst>
              <a:gd name="adj" fmla="val 2456"/>
            </a:avLst>
          </a:prstGeom>
          <a:solidFill>
            <a:srgbClr val="FFFFFF"/>
          </a:solidFill>
          <a:ln w="12700">
            <a:solidFill>
              <a:srgbClr val="E8E9ED"/>
            </a:solidFill>
            <a:prstDash val="solid"/>
          </a:ln>
          <a:effectLst>
            <a:outerShdw blurRad="63500" dist="25400" dir="5400000" algn="bl" rotWithShape="0">
              <a:srgbClr val="000000">
                <a:alpha val="10000"/>
              </a:srgbClr>
            </a:outerShdw>
          </a:effectLst>
        </p:spPr>
      </p:sp>
      <p:sp>
        <p:nvSpPr>
          <p:cNvPr id="25" name="Shape 19"/>
          <p:cNvSpPr/>
          <p:nvPr/>
        </p:nvSpPr>
        <p:spPr>
          <a:xfrm>
            <a:off x="10081260" y="1920240"/>
            <a:ext cx="548640" cy="548640"/>
          </a:xfrm>
          <a:prstGeom prst="ellipse">
            <a:avLst/>
          </a:prstGeom>
          <a:solidFill>
            <a:srgbClr val="2B4C7E"/>
          </a:solidFill>
          <a:ln/>
        </p:spPr>
      </p:sp>
      <p:pic>
        <p:nvPicPr>
          <p:cNvPr id="26" name="Image 4" descr="icon_clock.png"/>
          <p:cNvPicPr>
            <a:picLocks noChangeAspect="1"/>
          </p:cNvPicPr>
          <p:nvPr/>
        </p:nvPicPr>
        <p:blipFill>
          <a:blip r:embed="rId4"/>
          <a:stretch>
            <a:fillRect/>
          </a:stretch>
        </p:blipFill>
        <p:spPr>
          <a:xfrm>
            <a:off x="10212934" y="2051914"/>
            <a:ext cx="285293" cy="285293"/>
          </a:xfrm>
          <a:prstGeom prst="rect">
            <a:avLst/>
          </a:prstGeom>
        </p:spPr>
      </p:pic>
      <p:sp>
        <p:nvSpPr>
          <p:cNvPr id="27" name="Text 20"/>
          <p:cNvSpPr/>
          <p:nvPr/>
        </p:nvSpPr>
        <p:spPr>
          <a:xfrm>
            <a:off x="9162288" y="2606040"/>
            <a:ext cx="2386584" cy="548640"/>
          </a:xfrm>
          <a:prstGeom prst="rect">
            <a:avLst/>
          </a:prstGeom>
          <a:noFill/>
          <a:ln/>
        </p:spPr>
        <p:txBody>
          <a:bodyPr wrap="square" rtlCol="0" anchor="ctr"/>
          <a:lstStyle/>
          <a:p>
            <a:pPr marL="0" indent="0" algn="ctr">
              <a:lnSpc>
                <a:spcPct val="105000"/>
              </a:lnSpc>
              <a:buNone/>
            </a:pPr>
            <a:r>
              <a:rPr lang="en-US" sz="1250" b="1" dirty="0">
                <a:solidFill>
                  <a:srgbClr val="14213D"/>
                </a:solidFill>
                <a:latin typeface="Calibri" pitchFamily="34" charset="0"/>
                <a:ea typeface="Calibri" pitchFamily="34" charset="-122"/>
                <a:cs typeface="Calibri" pitchFamily="34" charset="-120"/>
              </a:rPr>
              <a:t>4. Dynamic In-Season</a:t>
            </a:r>
            <a:endParaRPr lang="en-US" sz="1250" dirty="0"/>
          </a:p>
          <a:p>
            <a:pPr marL="0" indent="0" algn="ctr">
              <a:lnSpc>
                <a:spcPct val="105000"/>
              </a:lnSpc>
              <a:buNone/>
            </a:pPr>
            <a:r>
              <a:rPr lang="en-US" sz="1250" b="1" dirty="0">
                <a:solidFill>
                  <a:srgbClr val="14213D"/>
                </a:solidFill>
                <a:latin typeface="Calibri" pitchFamily="34" charset="0"/>
                <a:ea typeface="Calibri" pitchFamily="34" charset="-122"/>
                <a:cs typeface="Calibri" pitchFamily="34" charset="-120"/>
              </a:rPr>
              <a:t>Updating</a:t>
            </a:r>
            <a:endParaRPr lang="en-US" sz="1250" dirty="0"/>
          </a:p>
        </p:txBody>
      </p:sp>
      <p:sp>
        <p:nvSpPr>
          <p:cNvPr id="28" name="Text 21"/>
          <p:cNvSpPr/>
          <p:nvPr/>
        </p:nvSpPr>
        <p:spPr>
          <a:xfrm>
            <a:off x="9189720" y="3200400"/>
            <a:ext cx="2331720" cy="1234440"/>
          </a:xfrm>
          <a:prstGeom prst="rect">
            <a:avLst/>
          </a:prstGeom>
          <a:noFill/>
          <a:ln/>
        </p:spPr>
        <p:txBody>
          <a:bodyPr wrap="square" rtlCol="0" anchor="ctr"/>
          <a:lstStyle/>
          <a:p>
            <a:pPr marL="0" indent="0" algn="l">
              <a:lnSpc>
                <a:spcPct val="120000"/>
              </a:lnSpc>
              <a:buNone/>
            </a:pPr>
            <a:r>
              <a:rPr lang="en-US" sz="1000" dirty="0">
                <a:solidFill>
                  <a:srgbClr val="4A5568"/>
                </a:solidFill>
                <a:latin typeface="Calibri" pitchFamily="34" charset="0"/>
                <a:ea typeface="Calibri" pitchFamily="34" charset="-122"/>
                <a:cs typeface="Calibri" pitchFamily="34" charset="-120"/>
              </a:rPr>
              <a:t>Bayesian updates to trophy probability as actual results come in — live-tracking as the season unfolds.</a:t>
            </a:r>
            <a:endParaRPr lang="en-US" sz="1000" dirty="0"/>
          </a:p>
        </p:txBody>
      </p:sp>
      <p:sp>
        <p:nvSpPr>
          <p:cNvPr id="29" name="Shape 22"/>
          <p:cNvSpPr/>
          <p:nvPr/>
        </p:nvSpPr>
        <p:spPr>
          <a:xfrm>
            <a:off x="548640" y="4800600"/>
            <a:ext cx="11064240" cy="1554480"/>
          </a:xfrm>
          <a:prstGeom prst="roundRect">
            <a:avLst>
              <a:gd name="adj" fmla="val 4118"/>
            </a:avLst>
          </a:prstGeom>
          <a:solidFill>
            <a:srgbClr val="14213D"/>
          </a:solidFill>
          <a:ln/>
        </p:spPr>
      </p:sp>
      <p:sp>
        <p:nvSpPr>
          <p:cNvPr id="30" name="Shape 23"/>
          <p:cNvSpPr/>
          <p:nvPr/>
        </p:nvSpPr>
        <p:spPr>
          <a:xfrm>
            <a:off x="822960" y="5029200"/>
            <a:ext cx="502920" cy="502920"/>
          </a:xfrm>
          <a:prstGeom prst="ellipse">
            <a:avLst/>
          </a:prstGeom>
          <a:solidFill>
            <a:srgbClr val="D4A017"/>
          </a:solidFill>
          <a:ln/>
        </p:spPr>
      </p:sp>
      <p:pic>
        <p:nvPicPr>
          <p:cNvPr id="31" name="Image 5" descr="icon_alertcircle.png"/>
          <p:cNvPicPr>
            <a:picLocks noChangeAspect="1"/>
          </p:cNvPicPr>
          <p:nvPr/>
        </p:nvPicPr>
        <p:blipFill>
          <a:blip r:embed="rId4"/>
          <a:stretch>
            <a:fillRect/>
          </a:stretch>
        </p:blipFill>
        <p:spPr>
          <a:xfrm>
            <a:off x="943661" y="5149901"/>
            <a:ext cx="261518" cy="261518"/>
          </a:xfrm>
          <a:prstGeom prst="rect">
            <a:avLst/>
          </a:prstGeom>
        </p:spPr>
      </p:pic>
      <p:sp>
        <p:nvSpPr>
          <p:cNvPr id="32" name="Text 24"/>
          <p:cNvSpPr/>
          <p:nvPr/>
        </p:nvSpPr>
        <p:spPr>
          <a:xfrm>
            <a:off x="1508760" y="4956048"/>
            <a:ext cx="9875520" cy="274320"/>
          </a:xfrm>
          <a:prstGeom prst="rect">
            <a:avLst/>
          </a:prstGeom>
          <a:noFill/>
          <a:ln/>
        </p:spPr>
        <p:txBody>
          <a:bodyPr wrap="square" rtlCol="0" anchor="ctr"/>
          <a:lstStyle/>
          <a:p>
            <a:pPr marL="0" indent="0">
              <a:buNone/>
            </a:pPr>
            <a:r>
              <a:rPr lang="en-US" sz="1200" b="1" kern="0" spc="100" dirty="0">
                <a:solidFill>
                  <a:srgbClr val="D4A017"/>
                </a:solidFill>
                <a:latin typeface="Calibri" pitchFamily="34" charset="0"/>
                <a:ea typeface="Calibri" pitchFamily="34" charset="-122"/>
                <a:cs typeface="Calibri" pitchFamily="34" charset="-120"/>
              </a:rPr>
              <a:t>HONEST LIMITATION — STATED BY DESIGN</a:t>
            </a:r>
            <a:endParaRPr lang="en-US" sz="1200" dirty="0"/>
          </a:p>
        </p:txBody>
      </p:sp>
      <p:sp>
        <p:nvSpPr>
          <p:cNvPr id="33" name="Text 25"/>
          <p:cNvSpPr/>
          <p:nvPr/>
        </p:nvSpPr>
        <p:spPr>
          <a:xfrm>
            <a:off x="1508760" y="5257800"/>
            <a:ext cx="9875520" cy="1005840"/>
          </a:xfrm>
          <a:prstGeom prst="rect">
            <a:avLst/>
          </a:prstGeom>
          <a:noFill/>
          <a:ln/>
        </p:spPr>
        <p:txBody>
          <a:bodyPr wrap="square" rtlCol="0" anchor="ctr"/>
          <a:lstStyle/>
          <a:p>
            <a:pPr marL="0" indent="0">
              <a:lnSpc>
                <a:spcPct val="130000"/>
              </a:lnSpc>
              <a:buNone/>
            </a:pPr>
            <a:r>
              <a:rPr lang="en-US" sz="1300" dirty="0">
                <a:solidFill>
                  <a:srgbClr val="FFFFFF"/>
                </a:solidFill>
                <a:latin typeface="Calibri" pitchFamily="34" charset="0"/>
                <a:ea typeface="Calibri" pitchFamily="34" charset="-122"/>
                <a:cs typeface="Calibri" pitchFamily="34" charset="-120"/>
              </a:rPr>
              <a:t>No model can predict an injury two days before a final, a rain-reduced 5-over chase, or a debutant's breakout performance. This roadmap targets a defensible probability distribution across squads — not a point prediction of the trophy winner. That framing is what separates serious sports analytics from noise.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926080" cy="2926080"/>
          </a:xfrm>
          <a:prstGeom prst="ellipse">
            <a:avLst/>
          </a:prstGeom>
          <a:solidFill>
            <a:srgbClr val="0D1626"/>
          </a:solidFill>
          <a:ln/>
        </p:spPr>
      </p:sp>
      <p:sp>
        <p:nvSpPr>
          <p:cNvPr id="3" name="Shape 1"/>
          <p:cNvSpPr/>
          <p:nvPr/>
        </p:nvSpPr>
        <p:spPr>
          <a:xfrm>
            <a:off x="-914400" y="5669280"/>
            <a:ext cx="2377440" cy="2377440"/>
          </a:xfrm>
          <a:prstGeom prst="ellipse">
            <a:avLst/>
          </a:prstGeom>
          <a:solidFill>
            <a:srgbClr val="0D1626"/>
          </a:solidFill>
          <a:ln/>
        </p:spPr>
      </p:sp>
      <p:sp>
        <p:nvSpPr>
          <p:cNvPr id="4" name="Shape 2"/>
          <p:cNvSpPr/>
          <p:nvPr/>
        </p:nvSpPr>
        <p:spPr>
          <a:xfrm>
            <a:off x="548640" y="457200"/>
            <a:ext cx="502920" cy="502920"/>
          </a:xfrm>
          <a:prstGeom prst="ellipse">
            <a:avLst/>
          </a:prstGeom>
          <a:solidFill>
            <a:srgbClr val="D4A017"/>
          </a:solidFill>
          <a:ln/>
        </p:spPr>
      </p:sp>
      <p:pic>
        <p:nvPicPr>
          <p:cNvPr id="5" name="Image 0" descr="icon_award.png"/>
          <p:cNvPicPr>
            <a:picLocks noChangeAspect="1"/>
          </p:cNvPicPr>
          <p:nvPr/>
        </p:nvPicPr>
        <p:blipFill>
          <a:blip r:embed="rId3"/>
          <a:stretch>
            <a:fillRect/>
          </a:stretch>
        </p:blipFill>
        <p:spPr>
          <a:xfrm>
            <a:off x="669341" y="577901"/>
            <a:ext cx="261518" cy="261518"/>
          </a:xfrm>
          <a:prstGeom prst="rect">
            <a:avLst/>
          </a:prstGeom>
        </p:spPr>
      </p:pic>
      <p:sp>
        <p:nvSpPr>
          <p:cNvPr id="6" name="Text 3"/>
          <p:cNvSpPr/>
          <p:nvPr/>
        </p:nvSpPr>
        <p:spPr>
          <a:xfrm>
            <a:off x="1234440" y="438912"/>
            <a:ext cx="9601200" cy="548640"/>
          </a:xfrm>
          <a:prstGeom prst="rect">
            <a:avLst/>
          </a:prstGeom>
          <a:noFill/>
          <a:ln/>
        </p:spPr>
        <p:txBody>
          <a:bodyPr wrap="square"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Justification of the Overall Project</a:t>
            </a:r>
            <a:endParaRPr lang="en-US" sz="2700" dirty="0"/>
          </a:p>
        </p:txBody>
      </p:sp>
      <p:sp>
        <p:nvSpPr>
          <p:cNvPr id="7" name="Text 4"/>
          <p:cNvSpPr/>
          <p:nvPr/>
        </p:nvSpPr>
        <p:spPr>
          <a:xfrm>
            <a:off x="1234440" y="960120"/>
            <a:ext cx="9601200" cy="320040"/>
          </a:xfrm>
          <a:prstGeom prst="rect">
            <a:avLst/>
          </a:prstGeom>
          <a:noFill/>
          <a:ln/>
        </p:spPr>
        <p:txBody>
          <a:bodyPr wrap="square" rtlCol="0" anchor="ctr"/>
          <a:lstStyle/>
          <a:p>
            <a:pPr marL="0" indent="0">
              <a:buNone/>
            </a:pPr>
            <a:r>
              <a:rPr lang="en-US" sz="1300" i="1" dirty="0">
                <a:solidFill>
                  <a:srgbClr val="F0C766"/>
                </a:solidFill>
                <a:latin typeface="Calibri" pitchFamily="34" charset="0"/>
                <a:ea typeface="Calibri" pitchFamily="34" charset="-122"/>
                <a:cs typeface="Calibri" pitchFamily="34" charset="-120"/>
              </a:rPr>
              <a:t>Three real business problems this system addresses in the IPL ecosystem</a:t>
            </a:r>
            <a:endParaRPr lang="en-US" sz="1300" dirty="0"/>
          </a:p>
        </p:txBody>
      </p:sp>
      <p:sp>
        <p:nvSpPr>
          <p:cNvPr id="8" name="Shape 5"/>
          <p:cNvSpPr/>
          <p:nvPr/>
        </p:nvSpPr>
        <p:spPr>
          <a:xfrm>
            <a:off x="548640" y="1600200"/>
            <a:ext cx="3520440" cy="2606040"/>
          </a:xfrm>
          <a:prstGeom prst="roundRect">
            <a:avLst>
              <a:gd name="adj" fmla="val 2456"/>
            </a:avLst>
          </a:prstGeom>
          <a:solidFill>
            <a:srgbClr val="0D1626"/>
          </a:solidFill>
          <a:ln/>
        </p:spPr>
      </p:sp>
      <p:sp>
        <p:nvSpPr>
          <p:cNvPr id="9" name="Shape 6"/>
          <p:cNvSpPr/>
          <p:nvPr/>
        </p:nvSpPr>
        <p:spPr>
          <a:xfrm>
            <a:off x="2016252" y="1856232"/>
            <a:ext cx="585216" cy="585216"/>
          </a:xfrm>
          <a:prstGeom prst="ellipse">
            <a:avLst/>
          </a:prstGeom>
          <a:solidFill>
            <a:srgbClr val="D4A017"/>
          </a:solidFill>
          <a:ln/>
        </p:spPr>
      </p:sp>
      <p:pic>
        <p:nvPicPr>
          <p:cNvPr id="10" name="Image 1" descr="icon_dollar.png"/>
          <p:cNvPicPr>
            <a:picLocks noChangeAspect="1"/>
          </p:cNvPicPr>
          <p:nvPr/>
        </p:nvPicPr>
        <p:blipFill>
          <a:blip r:embed="rId4"/>
          <a:stretch>
            <a:fillRect/>
          </a:stretch>
        </p:blipFill>
        <p:spPr>
          <a:xfrm>
            <a:off x="2156704" y="1996684"/>
            <a:ext cx="304312" cy="304312"/>
          </a:xfrm>
          <a:prstGeom prst="rect">
            <a:avLst/>
          </a:prstGeom>
        </p:spPr>
      </p:pic>
      <p:sp>
        <p:nvSpPr>
          <p:cNvPr id="11" name="Text 7"/>
          <p:cNvSpPr/>
          <p:nvPr/>
        </p:nvSpPr>
        <p:spPr>
          <a:xfrm>
            <a:off x="731520" y="2606040"/>
            <a:ext cx="3154680" cy="502920"/>
          </a:xfrm>
          <a:prstGeom prst="rect">
            <a:avLst/>
          </a:prstGeom>
          <a:noFill/>
          <a:ln/>
        </p:spPr>
        <p:txBody>
          <a:bodyPr wrap="square" rtlCol="0" anchor="ctr"/>
          <a:lstStyle/>
          <a:p>
            <a:pPr marL="0" indent="0" algn="ctr">
              <a:lnSpc>
                <a:spcPct val="105000"/>
              </a:lnSpc>
              <a:buNone/>
            </a:pPr>
            <a:r>
              <a:rPr lang="en-US" sz="1400" b="1" dirty="0">
                <a:solidFill>
                  <a:srgbClr val="FFFFFF"/>
                </a:solidFill>
                <a:latin typeface="Calibri" pitchFamily="34" charset="0"/>
                <a:ea typeface="Calibri" pitchFamily="34" charset="-122"/>
                <a:cs typeface="Calibri" pitchFamily="34" charset="-120"/>
              </a:rPr>
              <a:t>Auction Capital Allocation</a:t>
            </a:r>
            <a:endParaRPr lang="en-US" sz="1400" dirty="0"/>
          </a:p>
        </p:txBody>
      </p:sp>
      <p:sp>
        <p:nvSpPr>
          <p:cNvPr id="12" name="Text 8"/>
          <p:cNvSpPr/>
          <p:nvPr/>
        </p:nvSpPr>
        <p:spPr>
          <a:xfrm>
            <a:off x="777240" y="3136392"/>
            <a:ext cx="3063240" cy="1005840"/>
          </a:xfrm>
          <a:prstGeom prst="rect">
            <a:avLst/>
          </a:prstGeom>
          <a:noFill/>
          <a:ln/>
        </p:spPr>
        <p:txBody>
          <a:bodyPr wrap="square" rtlCol="0" anchor="ctr"/>
          <a:lstStyle/>
          <a:p>
            <a:pPr marL="0" indent="0" algn="l">
              <a:lnSpc>
                <a:spcPct val="125000"/>
              </a:lnSpc>
              <a:buNone/>
            </a:pPr>
            <a:r>
              <a:rPr lang="en-US" sz="1050" dirty="0">
                <a:solidFill>
                  <a:srgbClr val="E8E9ED"/>
                </a:solidFill>
                <a:latin typeface="Calibri" pitchFamily="34" charset="0"/>
                <a:ea typeface="Calibri" pitchFamily="34" charset="-122"/>
                <a:cs typeface="Calibri" pitchFamily="34" charset="-120"/>
              </a:rPr>
              <a:t>Franchises spend ₹120 crore per auction on intuition. This system quantifies the trade-off — which combination of players maximises win probability within a fixed budget.</a:t>
            </a:r>
            <a:endParaRPr lang="en-US" sz="1050" dirty="0"/>
          </a:p>
        </p:txBody>
      </p:sp>
      <p:sp>
        <p:nvSpPr>
          <p:cNvPr id="13" name="Shape 9"/>
          <p:cNvSpPr/>
          <p:nvPr/>
        </p:nvSpPr>
        <p:spPr>
          <a:xfrm>
            <a:off x="4343400" y="1600200"/>
            <a:ext cx="3520440" cy="2606040"/>
          </a:xfrm>
          <a:prstGeom prst="roundRect">
            <a:avLst>
              <a:gd name="adj" fmla="val 2456"/>
            </a:avLst>
          </a:prstGeom>
          <a:solidFill>
            <a:srgbClr val="0D1626"/>
          </a:solidFill>
          <a:ln/>
        </p:spPr>
      </p:sp>
      <p:sp>
        <p:nvSpPr>
          <p:cNvPr id="14" name="Shape 10"/>
          <p:cNvSpPr/>
          <p:nvPr/>
        </p:nvSpPr>
        <p:spPr>
          <a:xfrm>
            <a:off x="5811012" y="1856232"/>
            <a:ext cx="585216" cy="585216"/>
          </a:xfrm>
          <a:prstGeom prst="ellipse">
            <a:avLst/>
          </a:prstGeom>
          <a:solidFill>
            <a:srgbClr val="D4A017"/>
          </a:solidFill>
          <a:ln/>
        </p:spPr>
      </p:sp>
      <p:pic>
        <p:nvPicPr>
          <p:cNvPr id="15" name="Image 2" descr="icon_users.png"/>
          <p:cNvPicPr>
            <a:picLocks noChangeAspect="1"/>
          </p:cNvPicPr>
          <p:nvPr/>
        </p:nvPicPr>
        <p:blipFill>
          <a:blip r:embed="rId5"/>
          <a:stretch>
            <a:fillRect/>
          </a:stretch>
        </p:blipFill>
        <p:spPr>
          <a:xfrm>
            <a:off x="5951464" y="1996684"/>
            <a:ext cx="304312" cy="304312"/>
          </a:xfrm>
          <a:prstGeom prst="rect">
            <a:avLst/>
          </a:prstGeom>
        </p:spPr>
      </p:pic>
      <p:sp>
        <p:nvSpPr>
          <p:cNvPr id="16" name="Text 11"/>
          <p:cNvSpPr/>
          <p:nvPr/>
        </p:nvSpPr>
        <p:spPr>
          <a:xfrm>
            <a:off x="4526280" y="2606040"/>
            <a:ext cx="3154680" cy="502920"/>
          </a:xfrm>
          <a:prstGeom prst="rect">
            <a:avLst/>
          </a:prstGeom>
          <a:noFill/>
          <a:ln/>
        </p:spPr>
        <p:txBody>
          <a:bodyPr wrap="square" rtlCol="0" anchor="ctr"/>
          <a:lstStyle/>
          <a:p>
            <a:pPr marL="0" indent="0" algn="ctr">
              <a:lnSpc>
                <a:spcPct val="105000"/>
              </a:lnSpc>
              <a:buNone/>
            </a:pPr>
            <a:r>
              <a:rPr lang="en-US" sz="1400" b="1" dirty="0">
                <a:solidFill>
                  <a:srgbClr val="FFFFFF"/>
                </a:solidFill>
                <a:latin typeface="Calibri" pitchFamily="34" charset="0"/>
                <a:ea typeface="Calibri" pitchFamily="34" charset="-122"/>
                <a:cs typeface="Calibri" pitchFamily="34" charset="-120"/>
              </a:rPr>
              <a:t>Match-Day Squad Selection</a:t>
            </a:r>
            <a:endParaRPr lang="en-US" sz="1400" dirty="0"/>
          </a:p>
        </p:txBody>
      </p:sp>
      <p:sp>
        <p:nvSpPr>
          <p:cNvPr id="17" name="Text 12"/>
          <p:cNvSpPr/>
          <p:nvPr/>
        </p:nvSpPr>
        <p:spPr>
          <a:xfrm>
            <a:off x="4572000" y="3136392"/>
            <a:ext cx="3063240" cy="1005840"/>
          </a:xfrm>
          <a:prstGeom prst="rect">
            <a:avLst/>
          </a:prstGeom>
          <a:noFill/>
          <a:ln/>
        </p:spPr>
        <p:txBody>
          <a:bodyPr wrap="square" rtlCol="0" anchor="ctr"/>
          <a:lstStyle/>
          <a:p>
            <a:pPr marL="0" indent="0" algn="l">
              <a:lnSpc>
                <a:spcPct val="125000"/>
              </a:lnSpc>
              <a:buNone/>
            </a:pPr>
            <a:r>
              <a:rPr lang="en-US" sz="1050" dirty="0">
                <a:solidFill>
                  <a:srgbClr val="E8E9ED"/>
                </a:solidFill>
                <a:latin typeface="Calibri" pitchFamily="34" charset="0"/>
                <a:ea typeface="Calibri" pitchFamily="34" charset="-122"/>
                <a:cs typeface="Calibri" pitchFamily="34" charset="-120"/>
              </a:rPr>
              <a:t>Given today's opponent and venue, which XI maximises win probability? Venue and matchup features give captains a data-backed starting point, not a replacement for judgment.</a:t>
            </a:r>
            <a:endParaRPr lang="en-US" sz="1050" dirty="0"/>
          </a:p>
        </p:txBody>
      </p:sp>
      <p:sp>
        <p:nvSpPr>
          <p:cNvPr id="18" name="Shape 13"/>
          <p:cNvSpPr/>
          <p:nvPr/>
        </p:nvSpPr>
        <p:spPr>
          <a:xfrm>
            <a:off x="8138160" y="1600200"/>
            <a:ext cx="3520440" cy="2606040"/>
          </a:xfrm>
          <a:prstGeom prst="roundRect">
            <a:avLst>
              <a:gd name="adj" fmla="val 2456"/>
            </a:avLst>
          </a:prstGeom>
          <a:solidFill>
            <a:srgbClr val="0D1626"/>
          </a:solidFill>
          <a:ln/>
        </p:spPr>
      </p:sp>
      <p:sp>
        <p:nvSpPr>
          <p:cNvPr id="19" name="Shape 14"/>
          <p:cNvSpPr/>
          <p:nvPr/>
        </p:nvSpPr>
        <p:spPr>
          <a:xfrm>
            <a:off x="9605772" y="1856232"/>
            <a:ext cx="585216" cy="585216"/>
          </a:xfrm>
          <a:prstGeom prst="ellipse">
            <a:avLst/>
          </a:prstGeom>
          <a:solidFill>
            <a:srgbClr val="D4A017"/>
          </a:solidFill>
          <a:ln/>
        </p:spPr>
      </p:sp>
      <p:pic>
        <p:nvPicPr>
          <p:cNvPr id="20" name="Image 3" descr="icon_trending.png"/>
          <p:cNvPicPr>
            <a:picLocks noChangeAspect="1"/>
          </p:cNvPicPr>
          <p:nvPr/>
        </p:nvPicPr>
        <p:blipFill>
          <a:blip r:embed="rId6"/>
          <a:stretch>
            <a:fillRect/>
          </a:stretch>
        </p:blipFill>
        <p:spPr>
          <a:xfrm>
            <a:off x="9746224" y="1996684"/>
            <a:ext cx="304312" cy="304312"/>
          </a:xfrm>
          <a:prstGeom prst="rect">
            <a:avLst/>
          </a:prstGeom>
        </p:spPr>
      </p:pic>
      <p:sp>
        <p:nvSpPr>
          <p:cNvPr id="21" name="Text 15"/>
          <p:cNvSpPr/>
          <p:nvPr/>
        </p:nvSpPr>
        <p:spPr>
          <a:xfrm>
            <a:off x="8321040" y="2606040"/>
            <a:ext cx="3154680" cy="502920"/>
          </a:xfrm>
          <a:prstGeom prst="rect">
            <a:avLst/>
          </a:prstGeom>
          <a:noFill/>
          <a:ln/>
        </p:spPr>
        <p:txBody>
          <a:bodyPr wrap="square" rtlCol="0" anchor="ctr"/>
          <a:lstStyle/>
          <a:p>
            <a:pPr marL="0" indent="0" algn="ctr">
              <a:lnSpc>
                <a:spcPct val="105000"/>
              </a:lnSpc>
              <a:buNone/>
            </a:pPr>
            <a:r>
              <a:rPr lang="en-US" sz="1400" b="1" dirty="0">
                <a:solidFill>
                  <a:srgbClr val="FFFFFF"/>
                </a:solidFill>
                <a:latin typeface="Calibri" pitchFamily="34" charset="0"/>
                <a:ea typeface="Calibri" pitchFamily="34" charset="-122"/>
                <a:cs typeface="Calibri" pitchFamily="34" charset="-120"/>
              </a:rPr>
              <a:t>Player Valuation Inefficiency</a:t>
            </a:r>
            <a:endParaRPr lang="en-US" sz="1400" dirty="0"/>
          </a:p>
        </p:txBody>
      </p:sp>
      <p:sp>
        <p:nvSpPr>
          <p:cNvPr id="22" name="Text 16"/>
          <p:cNvSpPr/>
          <p:nvPr/>
        </p:nvSpPr>
        <p:spPr>
          <a:xfrm>
            <a:off x="8366760" y="3136392"/>
            <a:ext cx="3063240" cy="1005840"/>
          </a:xfrm>
          <a:prstGeom prst="rect">
            <a:avLst/>
          </a:prstGeom>
          <a:noFill/>
          <a:ln/>
        </p:spPr>
        <p:txBody>
          <a:bodyPr wrap="square" rtlCol="0" anchor="ctr"/>
          <a:lstStyle/>
          <a:p>
            <a:pPr marL="0" indent="0" algn="l">
              <a:lnSpc>
                <a:spcPct val="125000"/>
              </a:lnSpc>
              <a:buNone/>
            </a:pPr>
            <a:r>
              <a:rPr lang="en-US" sz="1050" dirty="0">
                <a:solidFill>
                  <a:srgbClr val="E8E9ED"/>
                </a:solidFill>
                <a:latin typeface="Calibri" pitchFamily="34" charset="0"/>
                <a:ea typeface="Calibri" pitchFamily="34" charset="-122"/>
                <a:cs typeface="Calibri" pitchFamily="34" charset="-120"/>
              </a:rPr>
              <a:t>IPL auctions are not an efficient market — recency and reputation bias inflate prices. This system surfaces undervalued, consistent performers systematically.</a:t>
            </a:r>
            <a:endParaRPr lang="en-US" sz="1050" dirty="0"/>
          </a:p>
        </p:txBody>
      </p:sp>
      <p:sp>
        <p:nvSpPr>
          <p:cNvPr id="23" name="Shape 17"/>
          <p:cNvSpPr/>
          <p:nvPr/>
        </p:nvSpPr>
        <p:spPr>
          <a:xfrm>
            <a:off x="548640" y="4434840"/>
            <a:ext cx="11064240" cy="1783080"/>
          </a:xfrm>
          <a:prstGeom prst="roundRect">
            <a:avLst>
              <a:gd name="adj" fmla="val 3590"/>
            </a:avLst>
          </a:prstGeom>
          <a:solidFill>
            <a:srgbClr val="D4A017"/>
          </a:solidFill>
          <a:ln/>
        </p:spPr>
      </p:sp>
      <p:sp>
        <p:nvSpPr>
          <p:cNvPr id="24" name="Text 18"/>
          <p:cNvSpPr/>
          <p:nvPr/>
        </p:nvSpPr>
        <p:spPr>
          <a:xfrm>
            <a:off x="868680" y="4617720"/>
            <a:ext cx="10424160" cy="274320"/>
          </a:xfrm>
          <a:prstGeom prst="rect">
            <a:avLst/>
          </a:prstGeom>
          <a:noFill/>
          <a:ln/>
        </p:spPr>
        <p:txBody>
          <a:bodyPr wrap="square" rtlCol="0" anchor="ctr"/>
          <a:lstStyle/>
          <a:p>
            <a:pPr marL="0" indent="0">
              <a:buNone/>
            </a:pPr>
            <a:r>
              <a:rPr lang="en-US" sz="1200" b="1" kern="0" spc="100" dirty="0">
                <a:solidFill>
                  <a:srgbClr val="0D1626"/>
                </a:solidFill>
                <a:latin typeface="Calibri" pitchFamily="34" charset="0"/>
                <a:ea typeface="Calibri" pitchFamily="34" charset="-122"/>
                <a:cs typeface="Calibri" pitchFamily="34" charset="-120"/>
              </a:rPr>
              <a:t>THE BROADER CONTEXT</a:t>
            </a:r>
            <a:endParaRPr lang="en-US" sz="1200" dirty="0"/>
          </a:p>
        </p:txBody>
      </p:sp>
      <p:sp>
        <p:nvSpPr>
          <p:cNvPr id="25" name="Text 19"/>
          <p:cNvSpPr/>
          <p:nvPr/>
        </p:nvSpPr>
        <p:spPr>
          <a:xfrm>
            <a:off x="868680" y="4919472"/>
            <a:ext cx="10424160" cy="1234440"/>
          </a:xfrm>
          <a:prstGeom prst="rect">
            <a:avLst/>
          </a:prstGeom>
          <a:noFill/>
          <a:ln/>
        </p:spPr>
        <p:txBody>
          <a:bodyPr wrap="square" rtlCol="0" anchor="ctr"/>
          <a:lstStyle/>
          <a:p>
            <a:pPr marL="0" indent="0">
              <a:lnSpc>
                <a:spcPct val="130000"/>
              </a:lnSpc>
              <a:buNone/>
            </a:pPr>
            <a:r>
              <a:rPr lang="en-US" sz="1400" dirty="0">
                <a:solidFill>
                  <a:srgbClr val="0D1626"/>
                </a:solidFill>
                <a:latin typeface="Calibri" pitchFamily="34" charset="0"/>
                <a:ea typeface="Calibri" pitchFamily="34" charset="-122"/>
                <a:cs typeface="Calibri" pitchFamily="34" charset="-120"/>
              </a:rPr>
              <a:t>Sports analytics in Indian T20 cricket is still at a pre-“Moneyball” stage of maturity compared to the NFL, NBA, and EPL. Franchises that build systematic, data-driven squad selection capabilities now will hold a structural competitive advantage for years — this project demonstrates that capability end-to-end, from raw data to a live, deployed application.</a:t>
            </a:r>
            <a:endParaRPr lang="en-US" sz="1400" dirty="0"/>
          </a:p>
        </p:txBody>
      </p:sp>
      <p:sp>
        <p:nvSpPr>
          <p:cNvPr id="26" name="Text 20"/>
          <p:cNvSpPr/>
          <p:nvPr/>
        </p:nvSpPr>
        <p:spPr>
          <a:xfrm>
            <a:off x="548640" y="6400800"/>
            <a:ext cx="11064240" cy="320040"/>
          </a:xfrm>
          <a:prstGeom prst="rect">
            <a:avLst/>
          </a:prstGeom>
          <a:noFill/>
          <a:ln/>
        </p:spPr>
        <p:txBody>
          <a:bodyPr wrap="square" rtlCol="0" anchor="ctr"/>
          <a:lstStyle/>
          <a:p>
            <a:pPr marL="0" indent="0" algn="l">
              <a:buNone/>
            </a:pPr>
            <a:r>
              <a:rPr lang="en-US" sz="1100" dirty="0">
                <a:solidFill>
                  <a:srgbClr val="F0C766"/>
                </a:solidFill>
                <a:latin typeface="Calibri" pitchFamily="34" charset="0"/>
                <a:ea typeface="Calibri" pitchFamily="34" charset="-122"/>
                <a:cs typeface="Calibri" pitchFamily="34" charset="-120"/>
              </a:rPr>
              <a:t>Live App: ipl-2027-squad-predictor.streamlit.app   |   GitHub: github.com/Anandapriya-T/ipl-2027-squad-predictor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1027</Words>
  <Application>Microsoft Office PowerPoint</Application>
  <PresentationFormat>Widescreen</PresentationFormat>
  <Paragraphs>111</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Anandapriya T</cp:lastModifiedBy>
  <cp:revision>2</cp:revision>
  <dcterms:created xsi:type="dcterms:W3CDTF">2026-07-26T08:03:12Z</dcterms:created>
  <dcterms:modified xsi:type="dcterms:W3CDTF">2026-08-04T15:46:08Z</dcterms:modified>
</cp:coreProperties>
</file>